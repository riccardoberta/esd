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4"/>
  </p:sldMasterIdLst>
  <p:notesMasterIdLst>
    <p:notesMasterId r:id="rId33"/>
  </p:notesMasterIdLst>
  <p:sldIdLst>
    <p:sldId id="256" r:id="rId5"/>
    <p:sldId id="259" r:id="rId6"/>
    <p:sldId id="257" r:id="rId7"/>
    <p:sldId id="260" r:id="rId8"/>
    <p:sldId id="261" r:id="rId9"/>
    <p:sldId id="271" r:id="rId10"/>
    <p:sldId id="262" r:id="rId11"/>
    <p:sldId id="264" r:id="rId12"/>
    <p:sldId id="265" r:id="rId13"/>
    <p:sldId id="285" r:id="rId14"/>
    <p:sldId id="272" r:id="rId15"/>
    <p:sldId id="267" r:id="rId16"/>
    <p:sldId id="268" r:id="rId17"/>
    <p:sldId id="269" r:id="rId18"/>
    <p:sldId id="273" r:id="rId19"/>
    <p:sldId id="275" r:id="rId20"/>
    <p:sldId id="274" r:id="rId21"/>
    <p:sldId id="277" r:id="rId22"/>
    <p:sldId id="278" r:id="rId23"/>
    <p:sldId id="279" r:id="rId24"/>
    <p:sldId id="276" r:id="rId25"/>
    <p:sldId id="270" r:id="rId26"/>
    <p:sldId id="280" r:id="rId27"/>
    <p:sldId id="281" r:id="rId28"/>
    <p:sldId id="282" r:id="rId29"/>
    <p:sldId id="286" r:id="rId30"/>
    <p:sldId id="287" r:id="rId31"/>
    <p:sldId id="283" r:id="rId32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34"/>
      <p:bold r:id="rId35"/>
      <p:italic r:id="rId36"/>
      <p:boldItalic r:id="rId37"/>
    </p:embeddedFont>
    <p:embeddedFont>
      <p:font typeface="Open Sans" panose="020B0606030504020204" pitchFamily="34" charset="0"/>
      <p:regular r:id="rId38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75C668-1674-754E-9B08-7EFA94F32B8F}" v="17" dt="2025-12-05T10:22:43.9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12"/>
    <p:restoredTop sz="92177"/>
  </p:normalViewPr>
  <p:slideViewPr>
    <p:cSldViewPr snapToGrid="0" snapToObjects="1">
      <p:cViewPr varScale="1">
        <p:scale>
          <a:sx n="117" d="100"/>
          <a:sy n="117" d="100"/>
        </p:scale>
        <p:origin x="23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6.fntdata"/><Relationship Id="rId21" Type="http://schemas.openxmlformats.org/officeDocument/2006/relationships/slide" Target="slides/slide17.xml"/><Relationship Id="rId34" Type="http://schemas.openxmlformats.org/officeDocument/2006/relationships/font" Target="fonts/font1.fntdata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3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2.fntdata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font" Target="fonts/font8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FDDBFC5A-5EA9-5330-BEB8-433D7E3B4C4E}"/>
    <pc:docChg chg="undo custSel addSld modSld sldOrd">
      <pc:chgData name="Riccardo Berta" userId="c8694f89-bba4-4576-b0a8-456619ca5a8c" providerId="ADAL" clId="{FDDBFC5A-5EA9-5330-BEB8-433D7E3B4C4E}" dt="2025-12-05T10:30:02.101" v="269" actId="478"/>
      <pc:docMkLst>
        <pc:docMk/>
      </pc:docMkLst>
      <pc:sldChg chg="addSp delSp mod">
        <pc:chgData name="Riccardo Berta" userId="c8694f89-bba4-4576-b0a8-456619ca5a8c" providerId="ADAL" clId="{FDDBFC5A-5EA9-5330-BEB8-433D7E3B4C4E}" dt="2025-12-05T10:30:02.101" v="269" actId="478"/>
        <pc:sldMkLst>
          <pc:docMk/>
          <pc:sldMk cId="0" sldId="257"/>
        </pc:sldMkLst>
        <pc:inkChg chg="add del">
          <ac:chgData name="Riccardo Berta" userId="c8694f89-bba4-4576-b0a8-456619ca5a8c" providerId="ADAL" clId="{FDDBFC5A-5EA9-5330-BEB8-433D7E3B4C4E}" dt="2025-12-05T10:30:02.101" v="269" actId="478"/>
          <ac:inkMkLst>
            <pc:docMk/>
            <pc:sldMk cId="0" sldId="257"/>
            <ac:inkMk id="2" creationId="{EB764743-C070-C959-3FD5-4DCAF6906232}"/>
          </ac:inkMkLst>
        </pc:inkChg>
      </pc:sldChg>
      <pc:sldChg chg="modSp mod">
        <pc:chgData name="Riccardo Berta" userId="c8694f89-bba4-4576-b0a8-456619ca5a8c" providerId="ADAL" clId="{FDDBFC5A-5EA9-5330-BEB8-433D7E3B4C4E}" dt="2025-11-26T17:11:49.679" v="127" actId="20577"/>
        <pc:sldMkLst>
          <pc:docMk/>
          <pc:sldMk cId="3018556184" sldId="259"/>
        </pc:sldMkLst>
        <pc:spChg chg="mod">
          <ac:chgData name="Riccardo Berta" userId="c8694f89-bba4-4576-b0a8-456619ca5a8c" providerId="ADAL" clId="{FDDBFC5A-5EA9-5330-BEB8-433D7E3B4C4E}" dt="2025-11-26T17:11:49.679" v="127" actId="20577"/>
          <ac:spMkLst>
            <pc:docMk/>
            <pc:sldMk cId="3018556184" sldId="259"/>
            <ac:spMk id="3" creationId="{38BFAA1C-1163-169B-2D77-6FEF73CC8512}"/>
          </ac:spMkLst>
        </pc:spChg>
      </pc:sldChg>
      <pc:sldChg chg="addSp delSp mod">
        <pc:chgData name="Riccardo Berta" userId="c8694f89-bba4-4576-b0a8-456619ca5a8c" providerId="ADAL" clId="{FDDBFC5A-5EA9-5330-BEB8-433D7E3B4C4E}" dt="2025-12-05T10:26:21.464" v="264" actId="478"/>
        <pc:sldMkLst>
          <pc:docMk/>
          <pc:sldMk cId="3239712184" sldId="260"/>
        </pc:sldMkLst>
        <pc:inkChg chg="add del">
          <ac:chgData name="Riccardo Berta" userId="c8694f89-bba4-4576-b0a8-456619ca5a8c" providerId="ADAL" clId="{FDDBFC5A-5EA9-5330-BEB8-433D7E3B4C4E}" dt="2025-12-05T10:26:21.464" v="264" actId="478"/>
          <ac:inkMkLst>
            <pc:docMk/>
            <pc:sldMk cId="3239712184" sldId="260"/>
            <ac:inkMk id="2" creationId="{7EE33FFF-C731-F7F0-A781-7CD5A815037C}"/>
          </ac:inkMkLst>
        </pc:inkChg>
      </pc:sldChg>
      <pc:sldChg chg="addSp delSp mod">
        <pc:chgData name="Riccardo Berta" userId="c8694f89-bba4-4576-b0a8-456619ca5a8c" providerId="ADAL" clId="{FDDBFC5A-5EA9-5330-BEB8-433D7E3B4C4E}" dt="2025-12-05T10:29:58.999" v="268" actId="478"/>
        <pc:sldMkLst>
          <pc:docMk/>
          <pc:sldMk cId="723946338" sldId="261"/>
        </pc:sldMkLst>
        <pc:inkChg chg="add del">
          <ac:chgData name="Riccardo Berta" userId="c8694f89-bba4-4576-b0a8-456619ca5a8c" providerId="ADAL" clId="{FDDBFC5A-5EA9-5330-BEB8-433D7E3B4C4E}" dt="2025-12-05T10:29:58.999" v="268" actId="478"/>
          <ac:inkMkLst>
            <pc:docMk/>
            <pc:sldMk cId="723946338" sldId="261"/>
            <ac:inkMk id="2" creationId="{AC7BE6EC-B195-1BB2-78D8-A7F0D4C5A1FE}"/>
          </ac:inkMkLst>
        </pc:inkChg>
      </pc:sldChg>
      <pc:sldChg chg="addSp delSp mod">
        <pc:chgData name="Riccardo Berta" userId="c8694f89-bba4-4576-b0a8-456619ca5a8c" providerId="ADAL" clId="{FDDBFC5A-5EA9-5330-BEB8-433D7E3B4C4E}" dt="2025-12-05T10:29:53.065" v="266" actId="478"/>
        <pc:sldMkLst>
          <pc:docMk/>
          <pc:sldMk cId="1167696200" sldId="262"/>
        </pc:sldMkLst>
        <pc:inkChg chg="add del">
          <ac:chgData name="Riccardo Berta" userId="c8694f89-bba4-4576-b0a8-456619ca5a8c" providerId="ADAL" clId="{FDDBFC5A-5EA9-5330-BEB8-433D7E3B4C4E}" dt="2025-12-05T10:29:53.065" v="266" actId="478"/>
          <ac:inkMkLst>
            <pc:docMk/>
            <pc:sldMk cId="1167696200" sldId="262"/>
            <ac:inkMk id="2" creationId="{87914B69-50F8-DBD8-FFED-0D61E8A242D3}"/>
          </ac:inkMkLst>
        </pc:inkChg>
      </pc:sldChg>
      <pc:sldChg chg="addSp delSp modSp mod">
        <pc:chgData name="Riccardo Berta" userId="c8694f89-bba4-4576-b0a8-456619ca5a8c" providerId="ADAL" clId="{FDDBFC5A-5EA9-5330-BEB8-433D7E3B4C4E}" dt="2025-12-05T10:29:50.577" v="265" actId="478"/>
        <pc:sldMkLst>
          <pc:docMk/>
          <pc:sldMk cId="242497059" sldId="264"/>
        </pc:sldMkLst>
        <pc:spChg chg="mod">
          <ac:chgData name="Riccardo Berta" userId="c8694f89-bba4-4576-b0a8-456619ca5a8c" providerId="ADAL" clId="{FDDBFC5A-5EA9-5330-BEB8-433D7E3B4C4E}" dt="2025-12-05T06:41:23.148" v="262" actId="113"/>
          <ac:spMkLst>
            <pc:docMk/>
            <pc:sldMk cId="242497059" sldId="264"/>
            <ac:spMk id="84" creationId="{00000000-0000-0000-0000-000000000000}"/>
          </ac:spMkLst>
        </pc:spChg>
        <pc:inkChg chg="add del">
          <ac:chgData name="Riccardo Berta" userId="c8694f89-bba4-4576-b0a8-456619ca5a8c" providerId="ADAL" clId="{FDDBFC5A-5EA9-5330-BEB8-433D7E3B4C4E}" dt="2025-12-05T10:29:50.577" v="265" actId="478"/>
          <ac:inkMkLst>
            <pc:docMk/>
            <pc:sldMk cId="242497059" sldId="264"/>
            <ac:inkMk id="2" creationId="{6481FC36-EB5E-A48F-2999-9CDA307C8AFC}"/>
          </ac:inkMkLst>
        </pc:inkChg>
      </pc:sldChg>
      <pc:sldChg chg="addSp delSp mod">
        <pc:chgData name="Riccardo Berta" userId="c8694f89-bba4-4576-b0a8-456619ca5a8c" providerId="ADAL" clId="{FDDBFC5A-5EA9-5330-BEB8-433D7E3B4C4E}" dt="2025-12-05T10:29:56.014" v="267" actId="478"/>
        <pc:sldMkLst>
          <pc:docMk/>
          <pc:sldMk cId="2145928830" sldId="271"/>
        </pc:sldMkLst>
        <pc:inkChg chg="add del">
          <ac:chgData name="Riccardo Berta" userId="c8694f89-bba4-4576-b0a8-456619ca5a8c" providerId="ADAL" clId="{FDDBFC5A-5EA9-5330-BEB8-433D7E3B4C4E}" dt="2025-12-05T10:29:56.014" v="267" actId="478"/>
          <ac:inkMkLst>
            <pc:docMk/>
            <pc:sldMk cId="2145928830" sldId="271"/>
            <ac:inkMk id="2" creationId="{F1B2039A-8ED6-15C1-86AC-FE4C411BD69A}"/>
          </ac:inkMkLst>
        </pc:inkChg>
      </pc:sldChg>
      <pc:sldChg chg="ord">
        <pc:chgData name="Riccardo Berta" userId="c8694f89-bba4-4576-b0a8-456619ca5a8c" providerId="ADAL" clId="{FDDBFC5A-5EA9-5330-BEB8-433D7E3B4C4E}" dt="2025-11-26T15:32:40.857" v="14" actId="20578"/>
        <pc:sldMkLst>
          <pc:docMk/>
          <pc:sldMk cId="3848209052" sldId="275"/>
        </pc:sldMkLst>
      </pc:sldChg>
      <pc:sldChg chg="delSp mod">
        <pc:chgData name="Riccardo Berta" userId="c8694f89-bba4-4576-b0a8-456619ca5a8c" providerId="ADAL" clId="{FDDBFC5A-5EA9-5330-BEB8-433D7E3B4C4E}" dt="2025-11-26T15:45:15.054" v="50" actId="478"/>
        <pc:sldMkLst>
          <pc:docMk/>
          <pc:sldMk cId="3188076125" sldId="278"/>
        </pc:sldMkLst>
      </pc:sldChg>
      <pc:sldChg chg="delSp modSp mod">
        <pc:chgData name="Riccardo Berta" userId="c8694f89-bba4-4576-b0a8-456619ca5a8c" providerId="ADAL" clId="{FDDBFC5A-5EA9-5330-BEB8-433D7E3B4C4E}" dt="2025-11-26T16:55:24.651" v="115" actId="20577"/>
        <pc:sldMkLst>
          <pc:docMk/>
          <pc:sldMk cId="622749539" sldId="280"/>
        </pc:sldMkLst>
        <pc:spChg chg="mod">
          <ac:chgData name="Riccardo Berta" userId="c8694f89-bba4-4576-b0a8-456619ca5a8c" providerId="ADAL" clId="{FDDBFC5A-5EA9-5330-BEB8-433D7E3B4C4E}" dt="2025-11-26T16:55:24.651" v="115" actId="20577"/>
          <ac:spMkLst>
            <pc:docMk/>
            <pc:sldMk cId="622749539" sldId="280"/>
            <ac:spMk id="84" creationId="{00000000-0000-0000-0000-000000000000}"/>
          </ac:spMkLst>
        </pc:spChg>
        <pc:picChg chg="mod">
          <ac:chgData name="Riccardo Berta" userId="c8694f89-bba4-4576-b0a8-456619ca5a8c" providerId="ADAL" clId="{FDDBFC5A-5EA9-5330-BEB8-433D7E3B4C4E}" dt="2025-11-26T16:55:19.124" v="114" actId="1076"/>
          <ac:picMkLst>
            <pc:docMk/>
            <pc:sldMk cId="622749539" sldId="280"/>
            <ac:picMk id="9" creationId="{F5D3C964-5CE0-9642-955F-E281A5B7FD55}"/>
          </ac:picMkLst>
        </pc:picChg>
      </pc:sldChg>
      <pc:sldChg chg="addSp delSp modSp mod">
        <pc:chgData name="Riccardo Berta" userId="c8694f89-bba4-4576-b0a8-456619ca5a8c" providerId="ADAL" clId="{FDDBFC5A-5EA9-5330-BEB8-433D7E3B4C4E}" dt="2025-11-27T11:43:30.589" v="158" actId="1076"/>
        <pc:sldMkLst>
          <pc:docMk/>
          <pc:sldMk cId="567034916" sldId="281"/>
        </pc:sldMkLst>
        <pc:spChg chg="mod">
          <ac:chgData name="Riccardo Berta" userId="c8694f89-bba4-4576-b0a8-456619ca5a8c" providerId="ADAL" clId="{FDDBFC5A-5EA9-5330-BEB8-433D7E3B4C4E}" dt="2025-11-27T11:43:27.261" v="157" actId="20577"/>
          <ac:spMkLst>
            <pc:docMk/>
            <pc:sldMk cId="567034916" sldId="281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FDDBFC5A-5EA9-5330-BEB8-433D7E3B4C4E}" dt="2025-11-27T11:43:30.589" v="158" actId="1076"/>
          <ac:picMkLst>
            <pc:docMk/>
            <pc:sldMk cId="567034916" sldId="281"/>
            <ac:picMk id="2" creationId="{273F2440-1516-65F2-1D12-71E0C872BC53}"/>
          </ac:picMkLst>
        </pc:picChg>
      </pc:sldChg>
      <pc:sldChg chg="modSp mod">
        <pc:chgData name="Riccardo Berta" userId="c8694f89-bba4-4576-b0a8-456619ca5a8c" providerId="ADAL" clId="{FDDBFC5A-5EA9-5330-BEB8-433D7E3B4C4E}" dt="2025-11-27T11:50:37.394" v="258" actId="14100"/>
        <pc:sldMkLst>
          <pc:docMk/>
          <pc:sldMk cId="3672496764" sldId="283"/>
        </pc:sldMkLst>
        <pc:spChg chg="mod">
          <ac:chgData name="Riccardo Berta" userId="c8694f89-bba4-4576-b0a8-456619ca5a8c" providerId="ADAL" clId="{FDDBFC5A-5EA9-5330-BEB8-433D7E3B4C4E}" dt="2025-11-27T11:48:46.947" v="242" actId="20577"/>
          <ac:spMkLst>
            <pc:docMk/>
            <pc:sldMk cId="3672496764" sldId="283"/>
            <ac:spMk id="83" creationId="{00000000-0000-0000-0000-000000000000}"/>
          </ac:spMkLst>
        </pc:spChg>
        <pc:spChg chg="mod">
          <ac:chgData name="Riccardo Berta" userId="c8694f89-bba4-4576-b0a8-456619ca5a8c" providerId="ADAL" clId="{FDDBFC5A-5EA9-5330-BEB8-433D7E3B4C4E}" dt="2025-11-27T11:50:37.394" v="258" actId="14100"/>
          <ac:spMkLst>
            <pc:docMk/>
            <pc:sldMk cId="3672496764" sldId="283"/>
            <ac:spMk id="84" creationId="{00000000-0000-0000-0000-000000000000}"/>
          </ac:spMkLst>
        </pc:spChg>
      </pc:sldChg>
      <pc:sldChg chg="addSp modSp add mod">
        <pc:chgData name="Riccardo Berta" userId="c8694f89-bba4-4576-b0a8-456619ca5a8c" providerId="ADAL" clId="{FDDBFC5A-5EA9-5330-BEB8-433D7E3B4C4E}" dt="2025-11-27T11:47:09.814" v="220" actId="14100"/>
        <pc:sldMkLst>
          <pc:docMk/>
          <pc:sldMk cId="3260907651" sldId="286"/>
        </pc:sldMkLst>
        <pc:spChg chg="mod">
          <ac:chgData name="Riccardo Berta" userId="c8694f89-bba4-4576-b0a8-456619ca5a8c" providerId="ADAL" clId="{FDDBFC5A-5EA9-5330-BEB8-433D7E3B4C4E}" dt="2025-11-27T11:47:02.985" v="218" actId="20577"/>
          <ac:spMkLst>
            <pc:docMk/>
            <pc:sldMk cId="3260907651" sldId="286"/>
            <ac:spMk id="84" creationId="{F96AE378-1655-DED7-60E6-ACCD1F8F2D9A}"/>
          </ac:spMkLst>
        </pc:spChg>
        <pc:picChg chg="add mod">
          <ac:chgData name="Riccardo Berta" userId="c8694f89-bba4-4576-b0a8-456619ca5a8c" providerId="ADAL" clId="{FDDBFC5A-5EA9-5330-BEB8-433D7E3B4C4E}" dt="2025-11-27T11:47:09.814" v="220" actId="14100"/>
          <ac:picMkLst>
            <pc:docMk/>
            <pc:sldMk cId="3260907651" sldId="286"/>
            <ac:picMk id="2" creationId="{AA1D746F-8357-ABC4-B011-856C16552F13}"/>
          </ac:picMkLst>
        </pc:picChg>
      </pc:sldChg>
      <pc:sldChg chg="addSp modSp add mod">
        <pc:chgData name="Riccardo Berta" userId="c8694f89-bba4-4576-b0a8-456619ca5a8c" providerId="ADAL" clId="{FDDBFC5A-5EA9-5330-BEB8-433D7E3B4C4E}" dt="2025-11-27T11:48:41.568" v="238" actId="1076"/>
        <pc:sldMkLst>
          <pc:docMk/>
          <pc:sldMk cId="4156977364" sldId="287"/>
        </pc:sldMkLst>
        <pc:spChg chg="mod">
          <ac:chgData name="Riccardo Berta" userId="c8694f89-bba4-4576-b0a8-456619ca5a8c" providerId="ADAL" clId="{FDDBFC5A-5EA9-5330-BEB8-433D7E3B4C4E}" dt="2025-11-27T11:47:35.146" v="223" actId="20577"/>
          <ac:spMkLst>
            <pc:docMk/>
            <pc:sldMk cId="4156977364" sldId="287"/>
            <ac:spMk id="83" creationId="{13EF303C-2F1B-1FE3-EBB9-C92C29EF9E2E}"/>
          </ac:spMkLst>
        </pc:spChg>
        <pc:spChg chg="mod">
          <ac:chgData name="Riccardo Berta" userId="c8694f89-bba4-4576-b0a8-456619ca5a8c" providerId="ADAL" clId="{FDDBFC5A-5EA9-5330-BEB8-433D7E3B4C4E}" dt="2025-11-27T11:48:19.641" v="234"/>
          <ac:spMkLst>
            <pc:docMk/>
            <pc:sldMk cId="4156977364" sldId="287"/>
            <ac:spMk id="84" creationId="{392038AF-C5C7-9189-38C9-438B22184642}"/>
          </ac:spMkLst>
        </pc:spChg>
        <pc:picChg chg="add mod modCrop">
          <ac:chgData name="Riccardo Berta" userId="c8694f89-bba4-4576-b0a8-456619ca5a8c" providerId="ADAL" clId="{FDDBFC5A-5EA9-5330-BEB8-433D7E3B4C4E}" dt="2025-11-27T11:48:41.568" v="238" actId="1076"/>
          <ac:picMkLst>
            <pc:docMk/>
            <pc:sldMk cId="4156977364" sldId="287"/>
            <ac:picMk id="2" creationId="{8961FEC5-79AC-99CE-87D9-C7D041498F3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52967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6599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87478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5676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64041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33718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93860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96128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2577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41517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49534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311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22281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75121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32689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33160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59144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42389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06748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52235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83394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82436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57ED559D-DBF4-D5C3-02E5-DDCD0E3B6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1B27B119-6DE4-F32F-6E2A-838300B05C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0F738C1C-3334-8CC5-2EC2-84C07DC297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372308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36CC9BEB-610E-3514-A865-934147353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EC1A00FE-42B9-BB38-6AFC-A9738C82D7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2B00468F-7F0C-18F3-F32C-153EDE2B58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74877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7509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userDrawn="1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500"/>
              <a:buChar char="○"/>
              <a:defRPr sz="1500"/>
            </a:lvl2pPr>
            <a:lvl3pPr marL="1371600" lvl="2" indent="-3175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 lang="it-IT" dirty="0"/>
          </a:p>
          <a:p>
            <a:pPr lvl="2"/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it-IT" dirty="0" err="1"/>
              <a:t>Sequential</a:t>
            </a:r>
            <a:r>
              <a:rPr lang="it-IT" dirty="0"/>
              <a:t> Building </a:t>
            </a:r>
            <a:r>
              <a:rPr lang="it-IT" dirty="0" err="1"/>
              <a:t>Blocks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268BF7-2F3B-A5C4-4F7E-1982399FCE6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8BFAA1C-1163-169B-2D77-6FEF73CC8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63777"/>
            <a:ext cx="8520600" cy="5272989"/>
          </a:xfrm>
        </p:spPr>
        <p:txBody>
          <a:bodyPr/>
          <a:lstStyle/>
          <a:p>
            <a:r>
              <a:rPr lang="en-GB" dirty="0"/>
              <a:t>Counters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Counter by Addition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Frequency Divider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Digitally Controlled Oscillator (DCO)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r>
              <a:rPr lang="en-GB" dirty="0"/>
              <a:t>Shift Registers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Serial-to-Parallel Conversion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Parallel-to-Serial Conversion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Scan Chains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r>
              <a:rPr lang="en-GB" dirty="0"/>
              <a:t>Memory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Memory Arrays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Bit Cell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Random Access Memory (RAM)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Read Only Memory (ROM)</a:t>
            </a:r>
          </a:p>
          <a:p>
            <a:pPr marL="1054100" lvl="2" indent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r>
              <a:rPr lang="en-GB" dirty="0"/>
              <a:t>Programmable Hardware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Lookup tables (LUT)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Programmable Logic Array (PLA)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Field Programmable Gate Array (FPGA)</a:t>
            </a:r>
          </a:p>
          <a:p>
            <a:pPr marL="120650" indent="0"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8556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Building Blocks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Like Combinational logic, also Sequential logic  is often grouped into </a:t>
            </a:r>
            <a:r>
              <a:rPr lang="en-GB" b="1" dirty="0"/>
              <a:t>larger building blocks </a:t>
            </a:r>
            <a:r>
              <a:rPr lang="en-GB" dirty="0"/>
              <a:t>to build more complex systems</a:t>
            </a:r>
          </a:p>
          <a:p>
            <a:pPr lvl="1"/>
            <a:r>
              <a:rPr lang="en-GB" dirty="0"/>
              <a:t>principles of </a:t>
            </a:r>
            <a:r>
              <a:rPr lang="en-GB" b="1" dirty="0"/>
              <a:t>abstraction, hierarchy, modularity, and regularity</a:t>
            </a:r>
          </a:p>
          <a:p>
            <a:pPr lvl="1"/>
            <a:r>
              <a:rPr lang="en-GB" dirty="0"/>
              <a:t>hiding the unnecessary gate-level details to emphasize the function of the building block</a:t>
            </a:r>
          </a:p>
          <a:p>
            <a:pPr lvl="1"/>
            <a:r>
              <a:rPr lang="en-GB" dirty="0"/>
              <a:t>hierarchically assembled from simpler components</a:t>
            </a:r>
          </a:p>
          <a:p>
            <a:pPr lvl="1"/>
            <a:r>
              <a:rPr lang="en-GB" dirty="0"/>
              <a:t>a well-defined interface and can be treated as a black box</a:t>
            </a:r>
          </a:p>
          <a:p>
            <a:r>
              <a:rPr lang="en-GB" dirty="0"/>
              <a:t>Examples: </a:t>
            </a:r>
          </a:p>
          <a:p>
            <a:pPr lvl="1"/>
            <a:r>
              <a:rPr lang="en-GB" dirty="0"/>
              <a:t>Counters</a:t>
            </a:r>
          </a:p>
          <a:p>
            <a:pPr lvl="1"/>
            <a:r>
              <a:rPr lang="en-GB" dirty="0"/>
              <a:t>Registers</a:t>
            </a:r>
          </a:p>
          <a:p>
            <a:pPr lvl="1"/>
            <a:r>
              <a:rPr lang="en-GB" dirty="0"/>
              <a:t>Memory</a:t>
            </a:r>
          </a:p>
          <a:p>
            <a:pPr lvl="1"/>
            <a:r>
              <a:rPr lang="en-GB" dirty="0"/>
              <a:t>PLA </a:t>
            </a:r>
          </a:p>
          <a:p>
            <a:pPr lvl="1"/>
            <a:r>
              <a:rPr lang="en-GB" dirty="0"/>
              <a:t>FPGA</a:t>
            </a:r>
          </a:p>
          <a:p>
            <a:r>
              <a:rPr lang="en-GB" dirty="0"/>
              <a:t>We will use many of these building blocks to build a microprocessor</a:t>
            </a:r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Counters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3930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 device that advances through all 2</a:t>
            </a:r>
            <a:r>
              <a:rPr lang="en-GB" baseline="30000" dirty="0"/>
              <a:t>N</a:t>
            </a:r>
            <a:r>
              <a:rPr lang="en-GB" dirty="0"/>
              <a:t> possible outputs in binary </a:t>
            </a:r>
            <a:br>
              <a:rPr lang="en-GB" dirty="0"/>
            </a:br>
            <a:r>
              <a:rPr lang="en-GB" dirty="0"/>
              <a:t>order</a:t>
            </a:r>
          </a:p>
          <a:p>
            <a:pPr lvl="1"/>
            <a:r>
              <a:rPr lang="en-GB" dirty="0"/>
              <a:t>incrementing on the rising edge of the clock</a:t>
            </a:r>
          </a:p>
          <a:p>
            <a:pPr lvl="1"/>
            <a:r>
              <a:rPr lang="en-GB" dirty="0"/>
              <a:t>Reset initializes the output to 0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A possible implementation composed of an adder </a:t>
            </a:r>
            <a:br>
              <a:rPr lang="en-GB" dirty="0"/>
            </a:br>
            <a:r>
              <a:rPr lang="en-GB" dirty="0"/>
              <a:t>and a  resettable register</a:t>
            </a:r>
          </a:p>
          <a:p>
            <a:pPr lvl="1"/>
            <a:r>
              <a:rPr lang="en-GB" dirty="0"/>
              <a:t>on each cycle, the counter adds 1 to the value </a:t>
            </a:r>
            <a:br>
              <a:rPr lang="en-GB" dirty="0"/>
            </a:br>
            <a:r>
              <a:rPr lang="en-GB" dirty="0"/>
              <a:t>stored in the register</a:t>
            </a:r>
          </a:p>
          <a:p>
            <a:pPr lvl="1"/>
            <a:r>
              <a:rPr lang="en-GB" dirty="0"/>
              <a:t>the most significant bit toggles every 2</a:t>
            </a:r>
            <a:r>
              <a:rPr lang="en-GB" baseline="30000" dirty="0"/>
              <a:t>N</a:t>
            </a:r>
            <a:r>
              <a:rPr lang="en-GB" dirty="0"/>
              <a:t> cycles </a:t>
            </a:r>
          </a:p>
          <a:p>
            <a:endParaRPr lang="en-GB" dirty="0"/>
          </a:p>
          <a:p>
            <a:r>
              <a:rPr lang="en-GB" dirty="0"/>
              <a:t>It can be used to reduces the frequency of the </a:t>
            </a:r>
            <a:br>
              <a:rPr lang="en-GB" dirty="0"/>
            </a:br>
            <a:r>
              <a:rPr lang="en-GB" dirty="0"/>
              <a:t>clock by a factor of 2</a:t>
            </a:r>
            <a:r>
              <a:rPr lang="en-GB" baseline="30000" dirty="0"/>
              <a:t>N</a:t>
            </a:r>
          </a:p>
          <a:p>
            <a:pPr lvl="1"/>
            <a:r>
              <a:rPr lang="en-GB" dirty="0"/>
              <a:t>useful for slowing down fast signals</a:t>
            </a:r>
          </a:p>
          <a:p>
            <a:pPr lvl="1"/>
            <a:r>
              <a:rPr lang="en-GB" dirty="0"/>
              <a:t>a digital system with a 50MHz clock, can be slowed with a 24-bit counter to produce a 2.98Hz signal that  blinks a LED at a rate the human eye can observe</a:t>
            </a:r>
          </a:p>
        </p:txBody>
      </p:sp>
      <p:pic>
        <p:nvPicPr>
          <p:cNvPr id="4" name="Immagine 3" descr="Immagine che contiene diagramma, schizzo, disegno, linea&#10;&#10;Descrizione generata automaticamente">
            <a:extLst>
              <a:ext uri="{FF2B5EF4-FFF2-40B4-BE49-F238E27FC236}">
                <a16:creationId xmlns:a16="http://schemas.microsoft.com/office/drawing/2014/main" id="{BC367194-A37E-6082-630A-671094B93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318" y="593479"/>
            <a:ext cx="1382443" cy="1984213"/>
          </a:xfrm>
          <a:prstGeom prst="rect">
            <a:avLst/>
          </a:prstGeom>
        </p:spPr>
      </p:pic>
      <p:pic>
        <p:nvPicPr>
          <p:cNvPr id="7" name="Immagine 6" descr="Immagine che contiene diagramma, linea, Disegno tecnico, Piano&#10;&#10;Descrizione generata automaticamente">
            <a:extLst>
              <a:ext uri="{FF2B5EF4-FFF2-40B4-BE49-F238E27FC236}">
                <a16:creationId xmlns:a16="http://schemas.microsoft.com/office/drawing/2014/main" id="{9994D323-1EB8-2C51-AD2E-03829C5C8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6477" y="2723465"/>
            <a:ext cx="3259682" cy="298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712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Digitally Controlled Oscillator (DCO)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 counter generalization to produce arbitrary frequencies </a:t>
            </a:r>
          </a:p>
          <a:p>
            <a:pPr lvl="0"/>
            <a:endParaRPr lang="en-GB" dirty="0"/>
          </a:p>
          <a:p>
            <a:r>
              <a:rPr lang="en-GB" dirty="0"/>
              <a:t>A N-bit counter that adds p on each cycle, rather than 1</a:t>
            </a:r>
          </a:p>
          <a:p>
            <a:pPr lvl="1"/>
            <a:r>
              <a:rPr lang="en-GB" dirty="0"/>
              <a:t>if the clock has frequency </a:t>
            </a:r>
            <a:r>
              <a:rPr lang="en-GB" dirty="0" err="1"/>
              <a:t>f</a:t>
            </a:r>
            <a:r>
              <a:rPr lang="en-GB" baseline="-25000" dirty="0" err="1"/>
              <a:t>clk</a:t>
            </a:r>
            <a:r>
              <a:rPr lang="en-GB" dirty="0"/>
              <a:t>, the most significant bit now toggles at </a:t>
            </a:r>
            <a:r>
              <a:rPr lang="en-GB" dirty="0" err="1"/>
              <a:t>f</a:t>
            </a:r>
            <a:r>
              <a:rPr lang="en-GB" baseline="-25000" dirty="0" err="1"/>
              <a:t>out</a:t>
            </a:r>
            <a:r>
              <a:rPr lang="en-GB" dirty="0"/>
              <a:t> = </a:t>
            </a:r>
            <a:r>
              <a:rPr lang="en-GB" dirty="0" err="1"/>
              <a:t>f</a:t>
            </a:r>
            <a:r>
              <a:rPr lang="en-GB" baseline="-25000" dirty="0" err="1"/>
              <a:t>clk</a:t>
            </a:r>
            <a:r>
              <a:rPr lang="en-GB" dirty="0"/>
              <a:t> * p/2</a:t>
            </a:r>
            <a:r>
              <a:rPr lang="en-GB" baseline="30000" dirty="0"/>
              <a:t>N</a:t>
            </a:r>
          </a:p>
          <a:p>
            <a:endParaRPr lang="en-GB" dirty="0"/>
          </a:p>
          <a:p>
            <a:r>
              <a:rPr lang="en-GB" dirty="0"/>
              <a:t>Selecting p and N, we can produce an output of any frequency</a:t>
            </a:r>
          </a:p>
          <a:p>
            <a:pPr lvl="1"/>
            <a:r>
              <a:rPr lang="en-GB" dirty="0"/>
              <a:t>larger N gives more precise control at the expense of more hardware</a:t>
            </a:r>
          </a:p>
          <a:p>
            <a:endParaRPr lang="en-GB" dirty="0"/>
          </a:p>
          <a:p>
            <a:r>
              <a:rPr lang="en-GB" dirty="0"/>
              <a:t>Suppose we have a 50 MHz clock and want to produce a 500 Hz output</a:t>
            </a:r>
          </a:p>
          <a:p>
            <a:pPr lvl="1"/>
            <a:r>
              <a:rPr lang="en-GB" dirty="0"/>
              <a:t>consider using an N=24 or 32 bit counter</a:t>
            </a:r>
          </a:p>
          <a:p>
            <a:pPr lvl="1"/>
            <a:r>
              <a:rPr lang="en-GB" dirty="0"/>
              <a:t>we want p/2</a:t>
            </a:r>
            <a:r>
              <a:rPr lang="en-GB" baseline="30000" dirty="0"/>
              <a:t>N</a:t>
            </a:r>
            <a:r>
              <a:rPr lang="en-GB" dirty="0"/>
              <a:t> = 500Hz/50MHz = 0.00001</a:t>
            </a:r>
          </a:p>
          <a:p>
            <a:pPr lvl="1"/>
            <a:r>
              <a:rPr lang="en-GB" dirty="0"/>
              <a:t>if N=24, choose p=168 to get </a:t>
            </a:r>
            <a:r>
              <a:rPr lang="en-GB" dirty="0" err="1"/>
              <a:t>f</a:t>
            </a:r>
            <a:r>
              <a:rPr lang="en-GB" baseline="-25000" dirty="0" err="1"/>
              <a:t>out</a:t>
            </a:r>
            <a:r>
              <a:rPr lang="en-GB" dirty="0"/>
              <a:t>=500.68Hz </a:t>
            </a:r>
          </a:p>
          <a:p>
            <a:pPr lvl="1"/>
            <a:r>
              <a:rPr lang="en-GB" dirty="0"/>
              <a:t>if N=32, choose p=42950 to get </a:t>
            </a:r>
            <a:r>
              <a:rPr lang="en-GB" dirty="0" err="1"/>
              <a:t>f</a:t>
            </a:r>
            <a:r>
              <a:rPr lang="en-GB" baseline="-25000" dirty="0" err="1"/>
              <a:t>out</a:t>
            </a:r>
            <a:r>
              <a:rPr lang="en-GB" dirty="0"/>
              <a:t>=500.038 Hz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3946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Shift Registers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80187"/>
            <a:ext cx="8818500" cy="554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 device that shift in a new bit on each clock edge</a:t>
            </a:r>
          </a:p>
          <a:p>
            <a:pPr lvl="1"/>
            <a:r>
              <a:rPr lang="en-GB" dirty="0"/>
              <a:t>on each rising edge of the clock, a new bit is shifted in from S</a:t>
            </a:r>
            <a:r>
              <a:rPr lang="en-GB" baseline="-25000" dirty="0"/>
              <a:t>in</a:t>
            </a:r>
            <a:r>
              <a:rPr lang="en-GB" dirty="0"/>
              <a:t> and </a:t>
            </a:r>
            <a:br>
              <a:rPr lang="en-GB" dirty="0"/>
            </a:br>
            <a:r>
              <a:rPr lang="en-GB" dirty="0"/>
              <a:t>all the subsequent contents are shifted forward</a:t>
            </a:r>
          </a:p>
          <a:p>
            <a:pPr lvl="1"/>
            <a:r>
              <a:rPr lang="en-GB" dirty="0"/>
              <a:t>the last bit in the shift register is available at </a:t>
            </a:r>
            <a:r>
              <a:rPr lang="en-GB" dirty="0" err="1"/>
              <a:t>S</a:t>
            </a:r>
            <a:r>
              <a:rPr lang="en-GB" baseline="-25000" dirty="0" err="1"/>
              <a:t>out</a:t>
            </a:r>
            <a:endParaRPr lang="en-GB" dirty="0"/>
          </a:p>
          <a:p>
            <a:r>
              <a:rPr lang="en-GB" dirty="0"/>
              <a:t>It can be constructed from N flip-flops connected in series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marL="120650" lvl="0" indent="0">
              <a:buNone/>
            </a:pPr>
            <a:endParaRPr lang="en-GB" sz="1000" dirty="0"/>
          </a:p>
          <a:p>
            <a:pPr lvl="0"/>
            <a:r>
              <a:rPr lang="en-GB" dirty="0"/>
              <a:t>Don’t confuse shift registers with shifters</a:t>
            </a:r>
          </a:p>
          <a:p>
            <a:pPr lvl="1"/>
            <a:r>
              <a:rPr lang="en-GB" dirty="0"/>
              <a:t>shifters are un-clocked combinational blocks that shift an input by a specified amount</a:t>
            </a:r>
            <a:endParaRPr lang="en-GB" sz="1400" dirty="0"/>
          </a:p>
          <a:p>
            <a:r>
              <a:rPr lang="en-GB" dirty="0"/>
              <a:t>Can be viewed as </a:t>
            </a:r>
            <a:r>
              <a:rPr lang="en-GB" b="1" dirty="0"/>
              <a:t>serial-to-parallel converter</a:t>
            </a:r>
            <a:endParaRPr lang="en-GB" dirty="0"/>
          </a:p>
          <a:p>
            <a:pPr lvl="1"/>
            <a:r>
              <a:rPr lang="en-GB" dirty="0"/>
              <a:t>the input is provided serially (one bit at a time) at S</a:t>
            </a:r>
            <a:r>
              <a:rPr lang="en-GB" baseline="-25000" dirty="0"/>
              <a:t>in</a:t>
            </a:r>
          </a:p>
          <a:p>
            <a:pPr lvl="1"/>
            <a:r>
              <a:rPr lang="en-GB" dirty="0"/>
              <a:t>after N cycles, the past N inputs are available in parallel at Q</a:t>
            </a:r>
          </a:p>
        </p:txBody>
      </p:sp>
      <p:pic>
        <p:nvPicPr>
          <p:cNvPr id="4" name="Immagine 3" descr="Immagine che contiene diagramma, schizzo, linea, disegno&#10;&#10;Descrizione generata automaticamente">
            <a:extLst>
              <a:ext uri="{FF2B5EF4-FFF2-40B4-BE49-F238E27FC236}">
                <a16:creationId xmlns:a16="http://schemas.microsoft.com/office/drawing/2014/main" id="{C1DB3BC4-02A7-DEF9-0CF0-1D082829F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7628" y="732483"/>
            <a:ext cx="1664672" cy="1856750"/>
          </a:xfrm>
          <a:prstGeom prst="rect">
            <a:avLst/>
          </a:prstGeom>
        </p:spPr>
      </p:pic>
      <p:pic>
        <p:nvPicPr>
          <p:cNvPr id="7" name="Immagine 6" descr="Immagine che contiene diagramma, linea, Disegno tecnico, Piano&#10;&#10;Descrizione generata automaticamente">
            <a:extLst>
              <a:ext uri="{FF2B5EF4-FFF2-40B4-BE49-F238E27FC236}">
                <a16:creationId xmlns:a16="http://schemas.microsoft.com/office/drawing/2014/main" id="{C0181FA4-1A0D-8AF9-6795-9A0A1F5F5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65" y="2826080"/>
            <a:ext cx="3975652" cy="183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928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diagramma, linea, Diagramma, Disegno tecnico&#10;&#10;Descrizione generata automaticamente">
            <a:extLst>
              <a:ext uri="{FF2B5EF4-FFF2-40B4-BE49-F238E27FC236}">
                <a16:creationId xmlns:a16="http://schemas.microsoft.com/office/drawing/2014/main" id="{408F8785-A7D5-BB6E-AF9A-0CC109793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7" y="2917356"/>
            <a:ext cx="6442276" cy="2728107"/>
          </a:xfrm>
          <a:prstGeom prst="rect">
            <a:avLst/>
          </a:prstGeom>
        </p:spPr>
      </p:pic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Shift Registers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 related circuit is a </a:t>
            </a:r>
            <a:r>
              <a:rPr lang="en-GB" b="1" dirty="0"/>
              <a:t>parallel-to-serial converter</a:t>
            </a:r>
          </a:p>
          <a:p>
            <a:pPr lvl="1"/>
            <a:r>
              <a:rPr lang="en-GB" dirty="0"/>
              <a:t>it loads N bits in parallel</a:t>
            </a:r>
          </a:p>
          <a:p>
            <a:pPr lvl="1"/>
            <a:r>
              <a:rPr lang="en-GB" dirty="0"/>
              <a:t>then shifts them out one at a time</a:t>
            </a:r>
          </a:p>
          <a:p>
            <a:r>
              <a:rPr lang="en-GB" dirty="0"/>
              <a:t>A shift register can be modified to perform both serial-to-parallel and parallel-to-serial operations by adding a parallel input D</a:t>
            </a:r>
            <a:r>
              <a:rPr lang="en-GB" baseline="-25000" dirty="0"/>
              <a:t>N−1:0</a:t>
            </a:r>
            <a:r>
              <a:rPr lang="en-GB" dirty="0"/>
              <a:t> and a control signal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sz="800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lvl="1"/>
            <a:r>
              <a:rPr lang="en-GB" dirty="0"/>
              <a:t>when Load is asserted, the flip-flops are loaded in parallel from the D inputs </a:t>
            </a:r>
          </a:p>
          <a:p>
            <a:pPr lvl="1"/>
            <a:r>
              <a:rPr lang="en-GB" dirty="0"/>
              <a:t>otherwise, the shift register shifts normally 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7696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Scan Chains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944580"/>
            <a:ext cx="8818500" cy="55960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Testing combinational circuits is relatively straightforward</a:t>
            </a:r>
          </a:p>
          <a:p>
            <a:pPr lvl="1"/>
            <a:r>
              <a:rPr lang="en-GB" dirty="0"/>
              <a:t>known inputs (</a:t>
            </a:r>
            <a:r>
              <a:rPr lang="en-GB" b="1" dirty="0"/>
              <a:t>test vectors</a:t>
            </a:r>
            <a:r>
              <a:rPr lang="en-GB" dirty="0"/>
              <a:t>) are applied, and outputs are checked</a:t>
            </a:r>
          </a:p>
          <a:p>
            <a:r>
              <a:rPr lang="en-GB" dirty="0"/>
              <a:t>Testing sequential circuits is more difficult because the circuits have state</a:t>
            </a:r>
          </a:p>
          <a:p>
            <a:pPr lvl="1"/>
            <a:r>
              <a:rPr lang="en-GB" dirty="0"/>
              <a:t>many cycles of test vectors may be needed to </a:t>
            </a:r>
            <a:r>
              <a:rPr lang="en-GB" b="1" dirty="0"/>
              <a:t>put the circuit into a state</a:t>
            </a:r>
          </a:p>
          <a:p>
            <a:pPr lvl="1"/>
            <a:r>
              <a:rPr lang="en-GB" dirty="0"/>
              <a:t>testing that the </a:t>
            </a:r>
            <a:r>
              <a:rPr lang="en-GB" dirty="0" err="1"/>
              <a:t>msb</a:t>
            </a:r>
            <a:r>
              <a:rPr lang="en-GB" dirty="0"/>
              <a:t> of a 32-bit counter requires 2</a:t>
            </a:r>
            <a:r>
              <a:rPr lang="en-GB" baseline="30000" dirty="0"/>
              <a:t>31</a:t>
            </a:r>
            <a:r>
              <a:rPr lang="en-GB" dirty="0"/>
              <a:t> clock pulses!</a:t>
            </a:r>
          </a:p>
          <a:p>
            <a:pPr lvl="0"/>
            <a:r>
              <a:rPr lang="en-GB" b="1" dirty="0"/>
              <a:t>Directly control the state</a:t>
            </a:r>
            <a:r>
              <a:rPr lang="en-GB" dirty="0"/>
              <a:t>, flip-flops connected into a shift register (</a:t>
            </a:r>
            <a:r>
              <a:rPr lang="en-GB" b="1" dirty="0"/>
              <a:t>scan chain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in normal operation, flip-flops load data from their input D</a:t>
            </a:r>
          </a:p>
          <a:p>
            <a:pPr lvl="1"/>
            <a:r>
              <a:rPr lang="en-GB" dirty="0"/>
              <a:t>in test mode, flip-flops serially shift contents using S</a:t>
            </a:r>
            <a:r>
              <a:rPr lang="en-GB" baseline="-25000" dirty="0"/>
              <a:t>in</a:t>
            </a:r>
            <a:r>
              <a:rPr lang="en-GB" dirty="0"/>
              <a:t> and </a:t>
            </a:r>
            <a:r>
              <a:rPr lang="en-GB" dirty="0" err="1"/>
              <a:t>S</a:t>
            </a:r>
            <a:r>
              <a:rPr lang="en-GB" baseline="-25000" dirty="0" err="1"/>
              <a:t>out</a:t>
            </a:r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120650" indent="0">
              <a:buNone/>
            </a:pPr>
            <a:endParaRPr lang="en-GB" sz="1050" dirty="0"/>
          </a:p>
          <a:p>
            <a:pPr marL="120650" indent="0">
              <a:buNone/>
            </a:pPr>
            <a:endParaRPr lang="en-GB" sz="1050" dirty="0"/>
          </a:p>
          <a:p>
            <a:pPr marL="120650" indent="0">
              <a:buNone/>
            </a:pPr>
            <a:endParaRPr lang="en-GB" sz="1200" dirty="0"/>
          </a:p>
          <a:p>
            <a:pPr marL="120650" indent="0">
              <a:buNone/>
            </a:pPr>
            <a:endParaRPr lang="en-GB" sz="100" dirty="0"/>
          </a:p>
          <a:p>
            <a:r>
              <a:rPr lang="en-GB" dirty="0"/>
              <a:t>The example:</a:t>
            </a:r>
          </a:p>
          <a:p>
            <a:pPr lvl="1"/>
            <a:r>
              <a:rPr lang="en-GB" dirty="0"/>
              <a:t>32-bit counter can be tested by shifting in the pattern 011111…111 in test mode, counting for one cycle, then shifting out the result, which should be 100000…000</a:t>
            </a:r>
          </a:p>
          <a:p>
            <a:pPr lvl="1"/>
            <a:r>
              <a:rPr lang="en-GB" dirty="0"/>
              <a:t>this requires 32 + 1 + 32 = 65 cycles</a:t>
            </a:r>
          </a:p>
          <a:p>
            <a:pPr lvl="1"/>
            <a:endParaRPr lang="en-GB" dirty="0"/>
          </a:p>
        </p:txBody>
      </p:sp>
      <p:pic>
        <p:nvPicPr>
          <p:cNvPr id="6" name="Immagine 5" descr="Immagine che contiene diagramma, linea, Disegno tecnico, Piano&#10;&#10;Descrizione generata automaticamente">
            <a:extLst>
              <a:ext uri="{FF2B5EF4-FFF2-40B4-BE49-F238E27FC236}">
                <a16:creationId xmlns:a16="http://schemas.microsoft.com/office/drawing/2014/main" id="{3066009C-A1A0-4C1E-E9C1-59DE87F33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03" y="3807615"/>
            <a:ext cx="2291295" cy="1408620"/>
          </a:xfrm>
          <a:prstGeom prst="rect">
            <a:avLst/>
          </a:prstGeom>
        </p:spPr>
      </p:pic>
      <p:pic>
        <p:nvPicPr>
          <p:cNvPr id="9" name="Immagine 8" descr="Immagine che contiene diagramma, linea, schizzo, origami&#10;&#10;Descrizione generata automaticamente">
            <a:extLst>
              <a:ext uri="{FF2B5EF4-FFF2-40B4-BE49-F238E27FC236}">
                <a16:creationId xmlns:a16="http://schemas.microsoft.com/office/drawing/2014/main" id="{317E278A-88D4-4E85-5928-76A6083D2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4814" y="3851959"/>
            <a:ext cx="1091595" cy="1643456"/>
          </a:xfrm>
          <a:prstGeom prst="rect">
            <a:avLst/>
          </a:prstGeom>
        </p:spPr>
      </p:pic>
      <p:pic>
        <p:nvPicPr>
          <p:cNvPr id="11" name="Immagine 10" descr="Immagine che contiene diagramma, linea, Disegno tecnico, Piano&#10;&#10;Descrizione generata automaticamente">
            <a:extLst>
              <a:ext uri="{FF2B5EF4-FFF2-40B4-BE49-F238E27FC236}">
                <a16:creationId xmlns:a16="http://schemas.microsoft.com/office/drawing/2014/main" id="{AF079640-270A-D701-4718-587EB422DC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8150" y="3772494"/>
            <a:ext cx="4180649" cy="197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97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Memory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02169"/>
            <a:ext cx="8818500" cy="564801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Digital systems require </a:t>
            </a:r>
            <a:r>
              <a:rPr lang="en-GB" b="1" dirty="0"/>
              <a:t>memories</a:t>
            </a:r>
            <a:r>
              <a:rPr lang="en-GB" dirty="0"/>
              <a:t> to store data used and generated by circuits</a:t>
            </a:r>
          </a:p>
          <a:p>
            <a:pPr lvl="1"/>
            <a:r>
              <a:rPr lang="en-GB" dirty="0"/>
              <a:t>registers are a kind of memory that stores small amounts of data</a:t>
            </a:r>
          </a:p>
          <a:p>
            <a:r>
              <a:rPr lang="en-GB" dirty="0"/>
              <a:t>Memory arrays can efficiently store </a:t>
            </a:r>
            <a:r>
              <a:rPr lang="en-GB" b="1" dirty="0"/>
              <a:t>large amounts of data</a:t>
            </a:r>
            <a:endParaRPr lang="en-GB" dirty="0"/>
          </a:p>
          <a:p>
            <a:pPr lvl="0"/>
            <a:r>
              <a:rPr lang="en-GB" dirty="0"/>
              <a:t>Memories are classified based on how they store bits</a:t>
            </a:r>
          </a:p>
          <a:p>
            <a:pPr lvl="1"/>
            <a:r>
              <a:rPr lang="en-GB" dirty="0"/>
              <a:t>Random Access Memory (</a:t>
            </a:r>
            <a:r>
              <a:rPr lang="en-GB" b="1" dirty="0"/>
              <a:t>RAM</a:t>
            </a:r>
            <a:r>
              <a:rPr lang="en-GB" dirty="0"/>
              <a:t>)</a:t>
            </a:r>
          </a:p>
          <a:p>
            <a:pPr lvl="2"/>
            <a:r>
              <a:rPr lang="en-GB" b="1" dirty="0"/>
              <a:t>volatile</a:t>
            </a:r>
            <a:r>
              <a:rPr lang="en-GB" dirty="0"/>
              <a:t>: loses data when the power is turned off</a:t>
            </a:r>
          </a:p>
          <a:p>
            <a:pPr lvl="1"/>
            <a:r>
              <a:rPr lang="en-GB" dirty="0"/>
              <a:t>Read Only Memory (</a:t>
            </a:r>
            <a:r>
              <a:rPr lang="en-GB" b="1" dirty="0"/>
              <a:t>ROM</a:t>
            </a:r>
            <a:r>
              <a:rPr lang="en-GB" dirty="0"/>
              <a:t>)</a:t>
            </a:r>
          </a:p>
          <a:p>
            <a:pPr lvl="2"/>
            <a:r>
              <a:rPr lang="en-GB" b="1" dirty="0"/>
              <a:t>non-volatile</a:t>
            </a:r>
            <a:r>
              <a:rPr lang="en-GB" dirty="0"/>
              <a:t>: retains its data indefinitely, even without a power source</a:t>
            </a:r>
          </a:p>
          <a:p>
            <a:r>
              <a:rPr lang="en-GB" dirty="0"/>
              <a:t>Names for </a:t>
            </a:r>
            <a:r>
              <a:rPr lang="en-GB" b="1" dirty="0"/>
              <a:t>historical reasons</a:t>
            </a:r>
            <a:r>
              <a:rPr lang="en-GB" dirty="0"/>
              <a:t>: no longer very meaningful</a:t>
            </a:r>
          </a:p>
          <a:p>
            <a:pPr lvl="1"/>
            <a:r>
              <a:rPr lang="en-GB" dirty="0"/>
              <a:t>RAM accesses data with the same delay, in contrast with sequential access memory (e.g. tape recorder accesses nearby data more quickly than faraway data) </a:t>
            </a:r>
          </a:p>
          <a:p>
            <a:pPr lvl="1"/>
            <a:r>
              <a:rPr lang="en-GB" dirty="0"/>
              <a:t>ROM historically could only be read, but not written</a:t>
            </a:r>
          </a:p>
          <a:p>
            <a:r>
              <a:rPr lang="en-GB" dirty="0"/>
              <a:t>These names are </a:t>
            </a:r>
            <a:r>
              <a:rPr lang="en-GB" b="1" dirty="0"/>
              <a:t>confusing</a:t>
            </a:r>
          </a:p>
          <a:p>
            <a:pPr lvl="1"/>
            <a:r>
              <a:rPr lang="en-GB" dirty="0"/>
              <a:t>ROMs are also randomly accessed… </a:t>
            </a:r>
          </a:p>
          <a:p>
            <a:pPr lvl="1"/>
            <a:r>
              <a:rPr lang="en-GB" dirty="0"/>
              <a:t>worse yet, modern ROMs can be written as well as read… </a:t>
            </a:r>
          </a:p>
          <a:p>
            <a:r>
              <a:rPr lang="en-GB" dirty="0"/>
              <a:t>Just one important distinction:  volatile and non-volatile</a:t>
            </a:r>
          </a:p>
          <a:p>
            <a:pPr marL="120650" lv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8835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Memory (2)</a:t>
            </a:r>
            <a:endParaRPr dirty="0"/>
          </a:p>
        </p:txBody>
      </p:sp>
      <p:pic>
        <p:nvPicPr>
          <p:cNvPr id="12" name="Immagine 11" descr="Immagine che contiene vestiti, uomo, schermata, testo&#10;&#10;Descrizione generata automaticamente">
            <a:extLst>
              <a:ext uri="{FF2B5EF4-FFF2-40B4-BE49-F238E27FC236}">
                <a16:creationId xmlns:a16="http://schemas.microsoft.com/office/drawing/2014/main" id="{0EDBF9A9-B2D3-35EB-2041-72F69C8109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315" y="1102216"/>
            <a:ext cx="8839290" cy="556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887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Memory Arrays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02169"/>
            <a:ext cx="8818500" cy="564801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Memory is organized as a two-dimensional array of memory cells</a:t>
            </a:r>
          </a:p>
          <a:p>
            <a:pPr lvl="1"/>
            <a:r>
              <a:rPr lang="en-GB" dirty="0"/>
              <a:t>row is specified by an </a:t>
            </a:r>
            <a:r>
              <a:rPr lang="en-GB" b="1" dirty="0"/>
              <a:t>address</a:t>
            </a:r>
          </a:p>
          <a:p>
            <a:pPr lvl="2"/>
            <a:r>
              <a:rPr lang="en-GB" b="1" dirty="0"/>
              <a:t>depth</a:t>
            </a:r>
            <a:r>
              <a:rPr lang="en-GB" dirty="0"/>
              <a:t> of an array is the number of rows</a:t>
            </a:r>
            <a:endParaRPr lang="en-GB" b="1" dirty="0"/>
          </a:p>
          <a:p>
            <a:pPr lvl="1"/>
            <a:r>
              <a:rPr lang="en-GB" dirty="0"/>
              <a:t>value read or written is called </a:t>
            </a:r>
            <a:r>
              <a:rPr lang="en-GB" b="1" dirty="0"/>
              <a:t>data</a:t>
            </a:r>
          </a:p>
          <a:p>
            <a:pPr lvl="2"/>
            <a:r>
              <a:rPr lang="en-GB" b="1" dirty="0"/>
              <a:t>width</a:t>
            </a:r>
            <a:r>
              <a:rPr lang="en-GB" dirty="0"/>
              <a:t> is the number of columns, also </a:t>
            </a:r>
            <a:br>
              <a:rPr lang="en-GB" dirty="0"/>
            </a:br>
            <a:r>
              <a:rPr lang="en-GB" dirty="0"/>
              <a:t>called the </a:t>
            </a:r>
            <a:r>
              <a:rPr lang="en-GB" b="1" dirty="0"/>
              <a:t>word size</a:t>
            </a:r>
          </a:p>
          <a:p>
            <a:r>
              <a:rPr lang="en-GB" dirty="0"/>
              <a:t>Memory with N-bit address and M-bit data </a:t>
            </a:r>
            <a:br>
              <a:rPr lang="en-GB" dirty="0"/>
            </a:br>
            <a:r>
              <a:rPr lang="en-GB" dirty="0"/>
              <a:t>has 2</a:t>
            </a:r>
            <a:r>
              <a:rPr lang="en-GB" baseline="30000" dirty="0"/>
              <a:t>N</a:t>
            </a:r>
            <a:r>
              <a:rPr lang="en-GB" dirty="0"/>
              <a:t> rows and M columns</a:t>
            </a:r>
          </a:p>
          <a:p>
            <a:pPr lvl="1"/>
            <a:r>
              <a:rPr lang="en-GB" dirty="0"/>
              <a:t>Memory size is given as </a:t>
            </a:r>
            <a:r>
              <a:rPr lang="en-GB" b="1" dirty="0"/>
              <a:t>depth * width</a:t>
            </a:r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Example:</a:t>
            </a:r>
          </a:p>
          <a:p>
            <a:pPr lvl="1"/>
            <a:r>
              <a:rPr lang="en-GB" dirty="0"/>
              <a:t>a memory array with two address bits and three data bits</a:t>
            </a:r>
          </a:p>
          <a:p>
            <a:pPr lvl="1"/>
            <a:r>
              <a:rPr lang="en-GB" dirty="0"/>
              <a:t>the two address bits specify one of the four rows </a:t>
            </a:r>
            <a:br>
              <a:rPr lang="en-GB" dirty="0"/>
            </a:br>
            <a:r>
              <a:rPr lang="en-GB" dirty="0"/>
              <a:t>(data words)</a:t>
            </a:r>
          </a:p>
          <a:p>
            <a:pPr lvl="1"/>
            <a:r>
              <a:rPr lang="en-GB" dirty="0"/>
              <a:t>each data word is three bits wide</a:t>
            </a:r>
          </a:p>
          <a:p>
            <a:pPr lvl="1"/>
            <a:r>
              <a:rPr lang="en-GB" dirty="0"/>
              <a:t>it is a 4-word * 3-bit array, or simply 4 × 3 memory</a:t>
            </a:r>
          </a:p>
          <a:p>
            <a:endParaRPr lang="en-GB" dirty="0"/>
          </a:p>
          <a:p>
            <a:pPr lvl="1"/>
            <a:endParaRPr lang="en-GB" dirty="0"/>
          </a:p>
        </p:txBody>
      </p:sp>
      <p:pic>
        <p:nvPicPr>
          <p:cNvPr id="14" name="Immagine 13" descr="Immagine che contiene testo, diagramma, schermata, linea&#10;&#10;Descrizione generata automaticamente">
            <a:extLst>
              <a:ext uri="{FF2B5EF4-FFF2-40B4-BE49-F238E27FC236}">
                <a16:creationId xmlns:a16="http://schemas.microsoft.com/office/drawing/2014/main" id="{E29A70CE-4703-019E-F884-5828B3A5F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4392" y="1488572"/>
            <a:ext cx="3806858" cy="2965450"/>
          </a:xfrm>
          <a:prstGeom prst="rect">
            <a:avLst/>
          </a:prstGeom>
        </p:spPr>
      </p:pic>
      <p:pic>
        <p:nvPicPr>
          <p:cNvPr id="16" name="Immagine 15" descr="Immagine che contiene testo, diagramma, Carattere, numero&#10;&#10;Descrizione generata automaticamente">
            <a:extLst>
              <a:ext uri="{FF2B5EF4-FFF2-40B4-BE49-F238E27FC236}">
                <a16:creationId xmlns:a16="http://schemas.microsoft.com/office/drawing/2014/main" id="{78E5017E-8D3C-2FA4-9479-19ECEBCEF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924" y="4578466"/>
            <a:ext cx="2601326" cy="207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137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linea, testo, diagramma, design&#10;&#10;Descrizione generata automaticamente">
            <a:extLst>
              <a:ext uri="{FF2B5EF4-FFF2-40B4-BE49-F238E27FC236}">
                <a16:creationId xmlns:a16="http://schemas.microsoft.com/office/drawing/2014/main" id="{7668BA66-5CEA-C5E9-EB36-E96F25FF1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732" y="313657"/>
            <a:ext cx="3251200" cy="2946400"/>
          </a:xfrm>
          <a:prstGeom prst="rect">
            <a:avLst/>
          </a:prstGeom>
        </p:spPr>
      </p:pic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Bit Cell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976498"/>
            <a:ext cx="8818500" cy="55544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Memory arrays are built as an array of </a:t>
            </a:r>
            <a:r>
              <a:rPr lang="en-GB" b="1" dirty="0"/>
              <a:t>bit cells</a:t>
            </a:r>
          </a:p>
          <a:p>
            <a:pPr lvl="1"/>
            <a:r>
              <a:rPr lang="en-GB" dirty="0"/>
              <a:t>each of which stores 1 bit of data</a:t>
            </a:r>
          </a:p>
          <a:p>
            <a:r>
              <a:rPr lang="en-GB" dirty="0"/>
              <a:t>Each bit cell is connected to a </a:t>
            </a:r>
            <a:r>
              <a:rPr lang="en-GB" b="1" dirty="0" err="1"/>
              <a:t>wordline</a:t>
            </a:r>
            <a:r>
              <a:rPr lang="en-GB" dirty="0"/>
              <a:t> and a </a:t>
            </a:r>
            <a:r>
              <a:rPr lang="en-GB" b="1" dirty="0" err="1"/>
              <a:t>bitline</a:t>
            </a:r>
            <a:endParaRPr lang="en-GB" b="1" dirty="0"/>
          </a:p>
          <a:p>
            <a:pPr lvl="1"/>
            <a:r>
              <a:rPr lang="en-GB" dirty="0"/>
              <a:t>for each combination of address bits, the memory asserts </a:t>
            </a:r>
            <a:br>
              <a:rPr lang="en-GB" dirty="0"/>
            </a:br>
            <a:r>
              <a:rPr lang="en-GB" dirty="0"/>
              <a:t>a single </a:t>
            </a:r>
            <a:r>
              <a:rPr lang="en-GB" dirty="0" err="1"/>
              <a:t>wordline</a:t>
            </a:r>
            <a:r>
              <a:rPr lang="en-GB" dirty="0"/>
              <a:t> that activates the bit cells in that row</a:t>
            </a:r>
          </a:p>
          <a:p>
            <a:pPr lvl="1"/>
            <a:r>
              <a:rPr lang="en-GB" dirty="0"/>
              <a:t>when the </a:t>
            </a:r>
            <a:r>
              <a:rPr lang="en-GB" dirty="0" err="1"/>
              <a:t>wordline</a:t>
            </a:r>
            <a:r>
              <a:rPr lang="en-GB" dirty="0"/>
              <a:t> is HIGH, the stored bit transfers to or from the </a:t>
            </a:r>
            <a:r>
              <a:rPr lang="en-GB" dirty="0" err="1"/>
              <a:t>bitline</a:t>
            </a:r>
            <a:endParaRPr lang="en-GB" dirty="0"/>
          </a:p>
          <a:p>
            <a:pPr lvl="1"/>
            <a:r>
              <a:rPr lang="en-GB" dirty="0"/>
              <a:t>otherwise, the </a:t>
            </a:r>
            <a:r>
              <a:rPr lang="en-GB" dirty="0" err="1"/>
              <a:t>bitline</a:t>
            </a:r>
            <a:r>
              <a:rPr lang="en-GB" dirty="0"/>
              <a:t> is disconnected from the bit cell</a:t>
            </a:r>
          </a:p>
          <a:p>
            <a:r>
              <a:rPr lang="en-GB" dirty="0"/>
              <a:t>The circuitry to store the bit varies with memory type</a:t>
            </a:r>
          </a:p>
          <a:p>
            <a:endParaRPr lang="en-GB" sz="800" dirty="0"/>
          </a:p>
          <a:p>
            <a:r>
              <a:rPr lang="en-GB" dirty="0"/>
              <a:t>To </a:t>
            </a:r>
            <a:r>
              <a:rPr lang="en-GB" b="1" dirty="0"/>
              <a:t>read</a:t>
            </a:r>
            <a:r>
              <a:rPr lang="en-GB" dirty="0"/>
              <a:t> a bit cell</a:t>
            </a:r>
          </a:p>
          <a:p>
            <a:pPr lvl="1"/>
            <a:r>
              <a:rPr lang="en-GB" dirty="0"/>
              <a:t>the </a:t>
            </a:r>
            <a:r>
              <a:rPr lang="en-GB" dirty="0" err="1"/>
              <a:t>bitline</a:t>
            </a:r>
            <a:r>
              <a:rPr lang="en-GB" dirty="0"/>
              <a:t> is left floating (Z)</a:t>
            </a:r>
          </a:p>
          <a:p>
            <a:pPr lvl="1"/>
            <a:r>
              <a:rPr lang="en-GB" dirty="0"/>
              <a:t>then the </a:t>
            </a:r>
            <a:r>
              <a:rPr lang="en-GB" dirty="0" err="1"/>
              <a:t>wordline</a:t>
            </a:r>
            <a:r>
              <a:rPr lang="en-GB" dirty="0"/>
              <a:t> is turned ON, allowing the stored value to drive the </a:t>
            </a:r>
            <a:r>
              <a:rPr lang="en-GB" dirty="0" err="1"/>
              <a:t>bitline</a:t>
            </a:r>
            <a:r>
              <a:rPr lang="en-GB" dirty="0"/>
              <a:t> </a:t>
            </a:r>
          </a:p>
          <a:p>
            <a:r>
              <a:rPr lang="en-GB" dirty="0"/>
              <a:t>To </a:t>
            </a:r>
            <a:r>
              <a:rPr lang="en-GB" b="1" dirty="0"/>
              <a:t>write</a:t>
            </a:r>
            <a:r>
              <a:rPr lang="en-GB" dirty="0"/>
              <a:t> a bit cell</a:t>
            </a:r>
          </a:p>
          <a:p>
            <a:pPr lvl="1"/>
            <a:r>
              <a:rPr lang="en-GB" dirty="0"/>
              <a:t>the </a:t>
            </a:r>
            <a:r>
              <a:rPr lang="en-GB" dirty="0" err="1"/>
              <a:t>bitline</a:t>
            </a:r>
            <a:r>
              <a:rPr lang="en-GB" dirty="0"/>
              <a:t> is strongly driven to the desired value </a:t>
            </a:r>
          </a:p>
          <a:p>
            <a:pPr lvl="1"/>
            <a:r>
              <a:rPr lang="en-GB" dirty="0"/>
              <a:t>then, the </a:t>
            </a:r>
            <a:r>
              <a:rPr lang="en-GB" dirty="0" err="1"/>
              <a:t>wordline</a:t>
            </a:r>
            <a:r>
              <a:rPr lang="en-GB" dirty="0"/>
              <a:t> is turned ON, connecting the </a:t>
            </a:r>
            <a:r>
              <a:rPr lang="en-GB" dirty="0" err="1"/>
              <a:t>bitline</a:t>
            </a:r>
            <a:r>
              <a:rPr lang="en-GB" dirty="0"/>
              <a:t> to the stored bit </a:t>
            </a:r>
          </a:p>
          <a:p>
            <a:pPr lvl="1"/>
            <a:r>
              <a:rPr lang="en-GB" dirty="0"/>
              <a:t>the strongly driven </a:t>
            </a:r>
            <a:r>
              <a:rPr lang="en-GB" dirty="0" err="1"/>
              <a:t>bitline</a:t>
            </a:r>
            <a:r>
              <a:rPr lang="en-GB" dirty="0"/>
              <a:t> overpowers the contents of the bit cell, writing the desired value into the stored bit</a:t>
            </a:r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46498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Bit Cell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The figure shows the internal organization of a 4 * 3 memory array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pic>
        <p:nvPicPr>
          <p:cNvPr id="4" name="Immagine 3" descr="Immagine che contiene diagramma, testo, Piano, schematico&#10;&#10;Descrizione generata automaticamente">
            <a:extLst>
              <a:ext uri="{FF2B5EF4-FFF2-40B4-BE49-F238E27FC236}">
                <a16:creationId xmlns:a16="http://schemas.microsoft.com/office/drawing/2014/main" id="{10F43FEB-D8FB-33E6-A617-8F721C82A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12" y="1581478"/>
            <a:ext cx="6615953" cy="510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869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dirty="0"/>
              <a:t>Dynamic Random Access Memory (DRAM)</a:t>
            </a:r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217529" y="1047955"/>
            <a:ext cx="8818500" cy="55487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DRAM stores data as a charge on a </a:t>
            </a:r>
            <a:r>
              <a:rPr lang="en-GB" b="1" dirty="0"/>
              <a:t>capacitor</a:t>
            </a:r>
          </a:p>
          <a:p>
            <a:pPr lvl="1"/>
            <a:r>
              <a:rPr lang="en-GB" dirty="0"/>
              <a:t>transistor behaves as a switch </a:t>
            </a:r>
          </a:p>
          <a:p>
            <a:pPr lvl="1"/>
            <a:r>
              <a:rPr lang="en-GB" dirty="0"/>
              <a:t>connects or disconnects the capacitor from the  </a:t>
            </a:r>
            <a:r>
              <a:rPr lang="en-GB" dirty="0" err="1"/>
              <a:t>bitline</a:t>
            </a:r>
            <a:endParaRPr lang="en-GB" dirty="0"/>
          </a:p>
          <a:p>
            <a:pPr lvl="2"/>
            <a:r>
              <a:rPr lang="en-GB" dirty="0"/>
              <a:t>when the capacitor is charged to VDD, the stored bit is 1</a:t>
            </a:r>
          </a:p>
          <a:p>
            <a:pPr lvl="2"/>
            <a:r>
              <a:rPr lang="en-GB" dirty="0"/>
              <a:t>when it is discharged to GND, the stored bit is 0</a:t>
            </a:r>
          </a:p>
          <a:p>
            <a:endParaRPr lang="en-GB" dirty="0"/>
          </a:p>
          <a:p>
            <a:r>
              <a:rPr lang="en-GB" dirty="0"/>
              <a:t>Upon a write, data values are transferred from the </a:t>
            </a:r>
            <a:r>
              <a:rPr lang="en-GB" dirty="0" err="1"/>
              <a:t>bitline</a:t>
            </a:r>
            <a:r>
              <a:rPr lang="en-GB" dirty="0"/>
              <a:t> to the capacitor</a:t>
            </a:r>
          </a:p>
          <a:p>
            <a:pPr lvl="0"/>
            <a:r>
              <a:rPr lang="en-GB" dirty="0"/>
              <a:t>Upon a read, data are transferred from the capacitor to the </a:t>
            </a:r>
            <a:r>
              <a:rPr lang="en-GB" dirty="0" err="1"/>
              <a:t>bitline</a:t>
            </a:r>
            <a:endParaRPr lang="en-GB" dirty="0"/>
          </a:p>
          <a:p>
            <a:endParaRPr lang="en-GB" dirty="0"/>
          </a:p>
          <a:p>
            <a:r>
              <a:rPr lang="en-GB" dirty="0"/>
              <a:t>Reading </a:t>
            </a:r>
            <a:r>
              <a:rPr lang="en-GB" b="1" dirty="0"/>
              <a:t>destroys</a:t>
            </a:r>
            <a:r>
              <a:rPr lang="en-GB" dirty="0"/>
              <a:t> the bit stored on the capacitor</a:t>
            </a:r>
          </a:p>
          <a:p>
            <a:pPr lvl="1"/>
            <a:r>
              <a:rPr lang="en-GB" dirty="0"/>
              <a:t>data must be restored (rewritten) after each read</a:t>
            </a:r>
          </a:p>
          <a:p>
            <a:pPr lvl="1"/>
            <a:r>
              <a:rPr lang="en-GB" dirty="0"/>
              <a:t>even when it is not read, the contents must be </a:t>
            </a:r>
            <a:r>
              <a:rPr lang="en-GB" b="1" dirty="0"/>
              <a:t>refreshed</a:t>
            </a:r>
            <a:r>
              <a:rPr lang="en-GB" dirty="0"/>
              <a:t> (read and rewritten)</a:t>
            </a:r>
          </a:p>
          <a:p>
            <a:pPr lvl="2"/>
            <a:r>
              <a:rPr lang="en-GB" dirty="0"/>
              <a:t>every few milliseconds</a:t>
            </a:r>
          </a:p>
          <a:p>
            <a:pPr lvl="2"/>
            <a:r>
              <a:rPr lang="en-GB" dirty="0"/>
              <a:t>the charge on the capacitor gradually </a:t>
            </a:r>
            <a:br>
              <a:rPr lang="en-GB" dirty="0"/>
            </a:br>
            <a:r>
              <a:rPr lang="en-GB" dirty="0"/>
              <a:t>leaks away</a:t>
            </a:r>
          </a:p>
          <a:p>
            <a:pPr lvl="1"/>
            <a:endParaRPr lang="en-GB" dirty="0"/>
          </a:p>
        </p:txBody>
      </p:sp>
      <p:pic>
        <p:nvPicPr>
          <p:cNvPr id="4" name="Immagine 3" descr="Immagine che contiene Viso umano, uomo, testo, persona&#10;&#10;Descrizione generata automaticamente">
            <a:extLst>
              <a:ext uri="{FF2B5EF4-FFF2-40B4-BE49-F238E27FC236}">
                <a16:creationId xmlns:a16="http://schemas.microsoft.com/office/drawing/2014/main" id="{941CE20E-5B3B-44D6-1B8A-B14725ABBC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0379" y="5449313"/>
            <a:ext cx="3295650" cy="1189300"/>
          </a:xfrm>
          <a:prstGeom prst="rect">
            <a:avLst/>
          </a:prstGeom>
        </p:spPr>
      </p:pic>
      <p:pic>
        <p:nvPicPr>
          <p:cNvPr id="3" name="Immagine 2" descr="Immagine che contiene diagramma, linea, Carattere, testo&#10;&#10;Descrizione generata automaticamente">
            <a:extLst>
              <a:ext uri="{FF2B5EF4-FFF2-40B4-BE49-F238E27FC236}">
                <a16:creationId xmlns:a16="http://schemas.microsoft.com/office/drawing/2014/main" id="{FBB73F52-2986-EAA3-6E97-E208EA7A77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641" y="993327"/>
            <a:ext cx="2433523" cy="205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3057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Static Random Access Memory (SRAM)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The data bit is stored on cross-coupled inverters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endParaRPr lang="en-GB" dirty="0"/>
          </a:p>
          <a:p>
            <a:r>
              <a:rPr lang="en-GB" dirty="0"/>
              <a:t>Each cell has two outputs, </a:t>
            </a:r>
            <a:r>
              <a:rPr lang="en-GB" dirty="0" err="1"/>
              <a:t>bitline</a:t>
            </a:r>
            <a:r>
              <a:rPr lang="en-GB" dirty="0"/>
              <a:t> and </a:t>
            </a:r>
            <a:r>
              <a:rPr lang="en-GB" dirty="0" err="1"/>
              <a:t>bitline</a:t>
            </a:r>
            <a:endParaRPr lang="en-GB" dirty="0"/>
          </a:p>
          <a:p>
            <a:pPr lvl="1"/>
            <a:r>
              <a:rPr lang="en-GB" dirty="0"/>
              <a:t>when the </a:t>
            </a:r>
            <a:r>
              <a:rPr lang="en-GB" dirty="0" err="1"/>
              <a:t>wordline</a:t>
            </a:r>
            <a:r>
              <a:rPr lang="en-GB" dirty="0"/>
              <a:t> is asserted, both transistors turn on</a:t>
            </a:r>
          </a:p>
          <a:p>
            <a:pPr lvl="1"/>
            <a:r>
              <a:rPr lang="en-GB" dirty="0"/>
              <a:t>data values are transferred to or from the </a:t>
            </a:r>
            <a:r>
              <a:rPr lang="en-GB" dirty="0" err="1"/>
              <a:t>bitlines</a:t>
            </a:r>
            <a:endParaRPr lang="en-GB" dirty="0"/>
          </a:p>
          <a:p>
            <a:endParaRPr lang="en-GB" dirty="0"/>
          </a:p>
          <a:p>
            <a:r>
              <a:rPr lang="en-GB" dirty="0"/>
              <a:t>Do not need to be refreshed</a:t>
            </a:r>
          </a:p>
          <a:p>
            <a:pPr lvl="1"/>
            <a:endParaRPr lang="en-GB" dirty="0"/>
          </a:p>
        </p:txBody>
      </p:sp>
      <p:pic>
        <p:nvPicPr>
          <p:cNvPr id="4" name="Immagine 3" descr="Immagine che contiene diagramma, linea, testo, Carattere&#10;&#10;Descrizione generata automaticamente">
            <a:extLst>
              <a:ext uri="{FF2B5EF4-FFF2-40B4-BE49-F238E27FC236}">
                <a16:creationId xmlns:a16="http://schemas.microsoft.com/office/drawing/2014/main" id="{482F77C8-3C6C-BC9E-5AD2-49D725E76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597" y="1649447"/>
            <a:ext cx="4684697" cy="2425134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C05B2C33-8669-BBC0-0B3D-BD3B6C884E4C}"/>
              </a:ext>
            </a:extLst>
          </p:cNvPr>
          <p:cNvCxnSpPr/>
          <p:nvPr/>
        </p:nvCxnSpPr>
        <p:spPr>
          <a:xfrm>
            <a:off x="4477871" y="4289612"/>
            <a:ext cx="632011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373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Register Files</a:t>
            </a:r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93219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 set of registers used to store </a:t>
            </a:r>
            <a:r>
              <a:rPr lang="en-GB" b="1" dirty="0"/>
              <a:t>temporary variables</a:t>
            </a:r>
          </a:p>
          <a:p>
            <a:pPr lvl="0"/>
            <a:r>
              <a:rPr lang="en-GB" dirty="0"/>
              <a:t>Usually built as a small, multi-ported SRAM array </a:t>
            </a:r>
          </a:p>
          <a:p>
            <a:pPr lvl="1"/>
            <a:r>
              <a:rPr lang="en-GB" dirty="0"/>
              <a:t>more compact than an array of flip-flops</a:t>
            </a:r>
          </a:p>
          <a:p>
            <a:pPr lvl="1"/>
            <a:r>
              <a:rPr lang="en-GB" dirty="0"/>
              <a:t>multi-ported means that can access several addresses </a:t>
            </a:r>
            <a:br>
              <a:rPr lang="en-GB" dirty="0"/>
            </a:br>
            <a:r>
              <a:rPr lang="en-GB" dirty="0"/>
              <a:t>simultaneously</a:t>
            </a:r>
          </a:p>
          <a:p>
            <a:pPr lvl="1"/>
            <a:endParaRPr lang="en-GB" dirty="0"/>
          </a:p>
          <a:p>
            <a:r>
              <a:rPr lang="en-GB" dirty="0"/>
              <a:t>For example, a 32-register (N=5) with 32-bit (M=32) three-ported register file</a:t>
            </a:r>
          </a:p>
          <a:p>
            <a:pPr lvl="1"/>
            <a:r>
              <a:rPr lang="en-GB" dirty="0"/>
              <a:t>two read ports (A1-&gt;RD1 and A2-&gt;RD2) </a:t>
            </a:r>
          </a:p>
          <a:p>
            <a:pPr lvl="1"/>
            <a:r>
              <a:rPr lang="en-GB" dirty="0"/>
              <a:t>one write port (A3-&gt;WD3)</a:t>
            </a:r>
          </a:p>
          <a:p>
            <a:pPr lvl="1"/>
            <a:r>
              <a:rPr lang="en-GB" dirty="0"/>
              <a:t>the 5-bit addresses (A1, A2, A3) can access all 2</a:t>
            </a:r>
            <a:r>
              <a:rPr lang="en-GB" baseline="30000" dirty="0"/>
              <a:t>5</a:t>
            </a:r>
            <a:r>
              <a:rPr lang="en-GB" dirty="0"/>
              <a:t> = 32 registers</a:t>
            </a:r>
          </a:p>
          <a:p>
            <a:pPr lvl="1"/>
            <a:r>
              <a:rPr lang="en-GB" dirty="0"/>
              <a:t>two registers can be read and one register written simultaneously</a:t>
            </a:r>
          </a:p>
          <a:p>
            <a:pPr lvl="1"/>
            <a:endParaRPr lang="en-GB" dirty="0"/>
          </a:p>
          <a:p>
            <a:r>
              <a:rPr lang="en-GB" dirty="0"/>
              <a:t>Sometimes, a particular register is </a:t>
            </a:r>
            <a:r>
              <a:rPr lang="en-GB" b="1" dirty="0"/>
              <a:t>hardwired</a:t>
            </a:r>
            <a:r>
              <a:rPr lang="en-GB" dirty="0"/>
              <a:t> to always read the value 0 </a:t>
            </a:r>
          </a:p>
          <a:p>
            <a:pPr lvl="1"/>
            <a:r>
              <a:rPr lang="en-GB" dirty="0"/>
              <a:t>because 0 is a commonly used constant</a:t>
            </a:r>
          </a:p>
          <a:p>
            <a:pPr lvl="1"/>
            <a:endParaRPr lang="en-GB" dirty="0"/>
          </a:p>
        </p:txBody>
      </p:sp>
      <p:pic>
        <p:nvPicPr>
          <p:cNvPr id="4" name="Immagine 3" descr="Immagine che contiene diagramma, testo, calligrafia, linea&#10;&#10;Descrizione generata automaticamente">
            <a:extLst>
              <a:ext uri="{FF2B5EF4-FFF2-40B4-BE49-F238E27FC236}">
                <a16:creationId xmlns:a16="http://schemas.microsoft.com/office/drawing/2014/main" id="{692E3EDC-5E90-23B6-979C-F35A8277A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3500" y="421233"/>
            <a:ext cx="2730500" cy="261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2090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Memory comparison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43732"/>
            <a:ext cx="8818500" cy="55203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Flip-flops, SRAM, and DRAM are all volatile memories, but each has different </a:t>
            </a:r>
            <a:r>
              <a:rPr lang="en-GB" b="1" dirty="0"/>
              <a:t>area</a:t>
            </a:r>
            <a:r>
              <a:rPr lang="en-GB" dirty="0"/>
              <a:t> and </a:t>
            </a:r>
            <a:r>
              <a:rPr lang="en-GB" b="1" dirty="0"/>
              <a:t>delay</a:t>
            </a:r>
            <a:r>
              <a:rPr lang="en-GB" dirty="0"/>
              <a:t> characteristics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marL="120650" lvl="0" indent="0">
              <a:buNone/>
            </a:pPr>
            <a:endParaRPr lang="en-GB" sz="1000" dirty="0"/>
          </a:p>
          <a:p>
            <a:pPr lvl="0"/>
            <a:r>
              <a:rPr lang="en-GB" dirty="0"/>
              <a:t>Flip-flop data is available immediately in output, but it takes at least 20 transistors</a:t>
            </a:r>
          </a:p>
          <a:p>
            <a:r>
              <a:rPr lang="en-GB" dirty="0"/>
              <a:t>DRAM is slower</a:t>
            </a:r>
          </a:p>
          <a:p>
            <a:pPr lvl="1"/>
            <a:r>
              <a:rPr lang="en-GB" dirty="0"/>
              <a:t>must wait for charge to move (relatively) slowly from the capacitor</a:t>
            </a:r>
          </a:p>
          <a:p>
            <a:pPr lvl="1"/>
            <a:r>
              <a:rPr lang="en-GB" dirty="0"/>
              <a:t>must refresh data periodically and after a read</a:t>
            </a:r>
          </a:p>
          <a:p>
            <a:r>
              <a:rPr lang="en-GB" dirty="0"/>
              <a:t>Today, modern DRAM technologies (synchronous and double data rate, DDR)</a:t>
            </a:r>
          </a:p>
          <a:p>
            <a:pPr lvl="1"/>
            <a:r>
              <a:rPr lang="en-GB" dirty="0"/>
              <a:t>uses both rising and falling edges of the clock to access data</a:t>
            </a:r>
          </a:p>
          <a:p>
            <a:pPr lvl="1"/>
            <a:r>
              <a:rPr lang="en-GB" dirty="0"/>
              <a:t>first standardized in 2000 (100 MHz), today (2024) speeds over 5 GHz (DDR5)</a:t>
            </a:r>
          </a:p>
          <a:p>
            <a:r>
              <a:rPr lang="en-GB" dirty="0"/>
              <a:t>The </a:t>
            </a:r>
            <a:r>
              <a:rPr lang="en-GB" b="1" dirty="0"/>
              <a:t>best memory type </a:t>
            </a:r>
            <a:r>
              <a:rPr lang="en-GB" dirty="0"/>
              <a:t>for a particular design </a:t>
            </a:r>
            <a:r>
              <a:rPr lang="en-GB" b="1" dirty="0"/>
              <a:t>depends on the speed, cost, and power constraints</a:t>
            </a:r>
          </a:p>
          <a:p>
            <a:pPr marL="120650" indent="0">
              <a:buNone/>
            </a:pPr>
            <a:endParaRPr lang="en-GB" dirty="0"/>
          </a:p>
        </p:txBody>
      </p:sp>
      <p:pic>
        <p:nvPicPr>
          <p:cNvPr id="4" name="Immagine 3" descr="Immagine che contiene testo, Carattere, calligrafia, linea&#10;&#10;Descrizione generata automaticamente">
            <a:extLst>
              <a:ext uri="{FF2B5EF4-FFF2-40B4-BE49-F238E27FC236}">
                <a16:creationId xmlns:a16="http://schemas.microsoft.com/office/drawing/2014/main" id="{058B0FFD-03A7-115D-9AB4-2F647DD68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509" y="1769035"/>
            <a:ext cx="4330700" cy="116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6666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Read Only Memory (ROM)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43732"/>
            <a:ext cx="8818500" cy="56301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ROM stores a bit as the </a:t>
            </a:r>
            <a:r>
              <a:rPr lang="en-GB" b="1" dirty="0"/>
              <a:t>presence</a:t>
            </a:r>
            <a:r>
              <a:rPr lang="en-GB" dirty="0"/>
              <a:t> or </a:t>
            </a:r>
            <a:r>
              <a:rPr lang="en-GB" b="1" dirty="0"/>
              <a:t>absence</a:t>
            </a:r>
            <a:r>
              <a:rPr lang="en-GB" dirty="0"/>
              <a:t> of a transistor</a:t>
            </a:r>
          </a:p>
          <a:p>
            <a:r>
              <a:rPr lang="en-GB" dirty="0"/>
              <a:t>To read the cell:</a:t>
            </a:r>
          </a:p>
          <a:p>
            <a:pPr lvl="1"/>
            <a:r>
              <a:rPr lang="en-GB" dirty="0"/>
              <a:t>the </a:t>
            </a:r>
            <a:r>
              <a:rPr lang="en-GB" dirty="0" err="1"/>
              <a:t>bitline</a:t>
            </a:r>
            <a:r>
              <a:rPr lang="en-GB" dirty="0"/>
              <a:t> is weakly pulled HIGH</a:t>
            </a:r>
          </a:p>
          <a:p>
            <a:pPr lvl="1"/>
            <a:r>
              <a:rPr lang="en-GB" dirty="0"/>
              <a:t>then, the </a:t>
            </a:r>
            <a:r>
              <a:rPr lang="en-GB" dirty="0" err="1"/>
              <a:t>wordline</a:t>
            </a:r>
            <a:r>
              <a:rPr lang="en-GB" dirty="0"/>
              <a:t> is turned ON</a:t>
            </a:r>
          </a:p>
          <a:p>
            <a:pPr lvl="2"/>
            <a:r>
              <a:rPr lang="en-GB" dirty="0"/>
              <a:t>if the transistor is present, it pulls the </a:t>
            </a:r>
            <a:r>
              <a:rPr lang="en-GB" dirty="0" err="1"/>
              <a:t>bitline</a:t>
            </a:r>
            <a:r>
              <a:rPr lang="en-GB" dirty="0"/>
              <a:t> LOW</a:t>
            </a:r>
          </a:p>
          <a:p>
            <a:pPr lvl="2"/>
            <a:r>
              <a:rPr lang="en-GB" dirty="0"/>
              <a:t>if it is absent, the </a:t>
            </a:r>
            <a:r>
              <a:rPr lang="en-GB" dirty="0" err="1"/>
              <a:t>bitline</a:t>
            </a:r>
            <a:r>
              <a:rPr lang="en-GB" dirty="0"/>
              <a:t> remains HIGH</a:t>
            </a:r>
          </a:p>
          <a:p>
            <a:pPr lvl="2"/>
            <a:endParaRPr lang="en-GB" dirty="0"/>
          </a:p>
          <a:p>
            <a:r>
              <a:rPr lang="en-GB" dirty="0"/>
              <a:t>The contents of a ROM can be indicated using dot notation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marL="590550" lvl="1" indent="0">
              <a:buNone/>
            </a:pPr>
            <a:endParaRPr lang="en-GB" dirty="0"/>
          </a:p>
        </p:txBody>
      </p:sp>
      <p:pic>
        <p:nvPicPr>
          <p:cNvPr id="4" name="Immagine 3" descr="Immagine che contiene testo, diagramma, linea, Carattere&#10;&#10;Descrizione generata automaticamente">
            <a:extLst>
              <a:ext uri="{FF2B5EF4-FFF2-40B4-BE49-F238E27FC236}">
                <a16:creationId xmlns:a16="http://schemas.microsoft.com/office/drawing/2014/main" id="{454843EE-FA35-DD59-ADC4-1E0148813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0647" y="339331"/>
            <a:ext cx="2323353" cy="3481342"/>
          </a:xfrm>
          <a:prstGeom prst="rect">
            <a:avLst/>
          </a:prstGeom>
        </p:spPr>
      </p:pic>
      <p:pic>
        <p:nvPicPr>
          <p:cNvPr id="8" name="Immagine 7" descr="Immagine che contiene testo, Carattere, numero, diagramma&#10;&#10;Descrizione generata automaticamente">
            <a:extLst>
              <a:ext uri="{FF2B5EF4-FFF2-40B4-BE49-F238E27FC236}">
                <a16:creationId xmlns:a16="http://schemas.microsoft.com/office/drawing/2014/main" id="{9AA279E0-6E48-D80C-B4AA-4D30827CB9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026" y="4238087"/>
            <a:ext cx="2644962" cy="1576181"/>
          </a:xfrm>
          <a:prstGeom prst="rect">
            <a:avLst/>
          </a:prstGeom>
        </p:spPr>
      </p:pic>
      <p:pic>
        <p:nvPicPr>
          <p:cNvPr id="11" name="Immagine 10" descr="Immagine che contiene diagramma, linea, Parallelo, design&#10;&#10;Descrizione generata automaticamente">
            <a:extLst>
              <a:ext uri="{FF2B5EF4-FFF2-40B4-BE49-F238E27FC236}">
                <a16:creationId xmlns:a16="http://schemas.microsoft.com/office/drawing/2014/main" id="{C163323E-FAD2-966F-70FE-7DEB1EFB40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656" y="3988326"/>
            <a:ext cx="3285313" cy="2698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8631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Programmable ROM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0" y="1113924"/>
            <a:ext cx="898125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Places a transistor in </a:t>
            </a:r>
            <a:r>
              <a:rPr lang="en-GB" b="1" dirty="0"/>
              <a:t>every</a:t>
            </a:r>
            <a:r>
              <a:rPr lang="en-GB" dirty="0"/>
              <a:t> bit cell, but provides a </a:t>
            </a:r>
            <a:r>
              <a:rPr lang="en-GB" b="1" dirty="0"/>
              <a:t>way to connect or disconnect </a:t>
            </a:r>
            <a:r>
              <a:rPr lang="en-GB" dirty="0"/>
              <a:t>the transistor to ground</a:t>
            </a:r>
          </a:p>
          <a:p>
            <a:r>
              <a:rPr lang="en-GB" dirty="0"/>
              <a:t>User programs the ROM by applying a high voltage </a:t>
            </a:r>
            <a:br>
              <a:rPr lang="en-GB" dirty="0"/>
            </a:br>
            <a:r>
              <a:rPr lang="en-GB" dirty="0"/>
              <a:t>to selectively blow fuses</a:t>
            </a:r>
          </a:p>
          <a:p>
            <a:pPr lvl="1"/>
            <a:r>
              <a:rPr lang="en-GB" dirty="0"/>
              <a:t>if the fuse is present, transistor is connected to GND </a:t>
            </a:r>
            <a:br>
              <a:rPr lang="en-GB" dirty="0"/>
            </a:br>
            <a:r>
              <a:rPr lang="en-GB" dirty="0"/>
              <a:t>and the cell holds 0</a:t>
            </a:r>
          </a:p>
          <a:p>
            <a:pPr lvl="1"/>
            <a:r>
              <a:rPr lang="en-GB" dirty="0"/>
              <a:t>if the fuse is destroyed, transistor is disconnected </a:t>
            </a:r>
            <a:br>
              <a:rPr lang="en-GB" dirty="0"/>
            </a:br>
            <a:r>
              <a:rPr lang="en-GB" dirty="0"/>
              <a:t>from ground and the cell holds 1 </a:t>
            </a:r>
          </a:p>
          <a:p>
            <a:pPr lvl="1"/>
            <a:endParaRPr lang="en-GB" b="1" dirty="0"/>
          </a:p>
          <a:p>
            <a:r>
              <a:rPr lang="en-GB" b="1" dirty="0"/>
              <a:t>One-time programmable ROM</a:t>
            </a:r>
          </a:p>
          <a:p>
            <a:pPr lvl="1"/>
            <a:r>
              <a:rPr lang="en-GB" dirty="0"/>
              <a:t>because the fuse cannot be repaired once it is blown</a:t>
            </a:r>
          </a:p>
          <a:p>
            <a:pPr lvl="1"/>
            <a:r>
              <a:rPr lang="en-GB" dirty="0"/>
              <a:t>The process id called </a:t>
            </a:r>
            <a:r>
              <a:rPr lang="en-GB" b="1" dirty="0"/>
              <a:t>burning</a:t>
            </a:r>
            <a:r>
              <a:rPr lang="en-GB" dirty="0"/>
              <a:t> a ROM</a:t>
            </a:r>
          </a:p>
          <a:p>
            <a:pPr marL="590550" lvl="1" indent="0">
              <a:buNone/>
            </a:pPr>
            <a:endParaRPr lang="en-GB" sz="500" dirty="0"/>
          </a:p>
          <a:p>
            <a:pPr lvl="1"/>
            <a:endParaRPr lang="en-GB" sz="500" dirty="0"/>
          </a:p>
          <a:p>
            <a:r>
              <a:rPr lang="en-GB" dirty="0"/>
              <a:t>Exist also </a:t>
            </a:r>
            <a:r>
              <a:rPr lang="en-GB" b="1" dirty="0"/>
              <a:t>reversible mechanism </a:t>
            </a:r>
            <a:r>
              <a:rPr lang="en-GB" dirty="0"/>
              <a:t>for connecting or disconnecting </a:t>
            </a:r>
            <a:br>
              <a:rPr lang="en-GB" dirty="0"/>
            </a:br>
            <a:r>
              <a:rPr lang="en-GB" dirty="0"/>
              <a:t>the transistor</a:t>
            </a:r>
          </a:p>
          <a:p>
            <a:endParaRPr lang="en-GB" dirty="0"/>
          </a:p>
        </p:txBody>
      </p:sp>
      <p:pic>
        <p:nvPicPr>
          <p:cNvPr id="4" name="Immagine 3" descr="Immagine che contiene testo, diagramma, linea, Piano&#10;&#10;Descrizione generata automaticamente">
            <a:extLst>
              <a:ext uri="{FF2B5EF4-FFF2-40B4-BE49-F238E27FC236}">
                <a16:creationId xmlns:a16="http://schemas.microsoft.com/office/drawing/2014/main" id="{F00B1F2A-88B4-0D64-1843-157227B77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2788" y="1453653"/>
            <a:ext cx="3161211" cy="318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076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Re-programmable ROM 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43732"/>
            <a:ext cx="8818500" cy="55318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Erasable PROMs (</a:t>
            </a:r>
            <a:r>
              <a:rPr lang="en-GB" b="1" dirty="0"/>
              <a:t>EPROM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replace the transistor and fuse with a floating-gate transistor</a:t>
            </a:r>
          </a:p>
          <a:p>
            <a:pPr lvl="2"/>
            <a:r>
              <a:rPr lang="en-GB" dirty="0"/>
              <a:t>not physically attached to any other wires</a:t>
            </a:r>
          </a:p>
          <a:p>
            <a:pPr lvl="2"/>
            <a:r>
              <a:rPr lang="en-GB" dirty="0"/>
              <a:t>when high voltages are applied, electrons tunnel  through an insulator onto the floating gate, turning on the  transistor and  connecting the </a:t>
            </a:r>
            <a:r>
              <a:rPr lang="en-GB" dirty="0" err="1"/>
              <a:t>bitline</a:t>
            </a:r>
            <a:r>
              <a:rPr lang="en-GB" dirty="0"/>
              <a:t> to the </a:t>
            </a:r>
            <a:r>
              <a:rPr lang="en-GB" dirty="0" err="1"/>
              <a:t>wordline</a:t>
            </a:r>
            <a:endParaRPr lang="en-GB" dirty="0"/>
          </a:p>
          <a:p>
            <a:pPr lvl="2"/>
            <a:r>
              <a:rPr lang="en-GB" dirty="0"/>
              <a:t>when exposed to ultraviolet light (half an hour),  the  electrons are knocked off the floating  gate, turning the  transistor off</a:t>
            </a:r>
          </a:p>
          <a:p>
            <a:pPr lvl="2"/>
            <a:r>
              <a:rPr lang="en-GB" dirty="0"/>
              <a:t>these actions are called </a:t>
            </a:r>
            <a:r>
              <a:rPr lang="en-GB" b="1" dirty="0"/>
              <a:t>programming</a:t>
            </a:r>
            <a:r>
              <a:rPr lang="en-GB" dirty="0"/>
              <a:t> and </a:t>
            </a:r>
            <a:r>
              <a:rPr lang="en-GB" b="1" dirty="0"/>
              <a:t>erasing</a:t>
            </a:r>
            <a:endParaRPr lang="en-GB" dirty="0"/>
          </a:p>
          <a:p>
            <a:r>
              <a:rPr lang="en-GB" dirty="0"/>
              <a:t>Electrically erasable PROMs (</a:t>
            </a:r>
            <a:r>
              <a:rPr lang="en-GB" b="1" dirty="0"/>
              <a:t>EEPROM</a:t>
            </a:r>
            <a:r>
              <a:rPr lang="en-GB" dirty="0"/>
              <a:t>) and </a:t>
            </a:r>
            <a:r>
              <a:rPr lang="en-GB" b="1" dirty="0"/>
              <a:t>Flash memory </a:t>
            </a:r>
          </a:p>
          <a:p>
            <a:pPr lvl="1"/>
            <a:r>
              <a:rPr lang="en-GB" dirty="0"/>
              <a:t>use similar principles but include circuitry for erasing and  programming</a:t>
            </a:r>
          </a:p>
          <a:p>
            <a:pPr lvl="1"/>
            <a:r>
              <a:rPr lang="en-GB" dirty="0"/>
              <a:t>in 2024, Flash cost about $0.05 per GB, and price is dropping</a:t>
            </a:r>
          </a:p>
          <a:p>
            <a:pPr lvl="2"/>
            <a:r>
              <a:rPr lang="en-GB" dirty="0"/>
              <a:t>a way to store large amounts of data in portable battery-powered systems</a:t>
            </a:r>
          </a:p>
          <a:p>
            <a:pPr lvl="0"/>
            <a:endParaRPr lang="en-GB" sz="600" dirty="0"/>
          </a:p>
          <a:p>
            <a:pPr lvl="0"/>
            <a:r>
              <a:rPr lang="en-GB" dirty="0"/>
              <a:t>ROMs are </a:t>
            </a:r>
            <a:r>
              <a:rPr lang="en-GB" b="1" dirty="0"/>
              <a:t>not really read only</a:t>
            </a:r>
            <a:r>
              <a:rPr lang="en-GB" dirty="0"/>
              <a:t>: they can be programmed </a:t>
            </a:r>
          </a:p>
          <a:p>
            <a:pPr lvl="1"/>
            <a:r>
              <a:rPr lang="en-GB" dirty="0"/>
              <a:t>difference between RAM and ROM: ROMs </a:t>
            </a:r>
            <a:r>
              <a:rPr lang="en-GB" b="1" dirty="0"/>
              <a:t>take a longer time to write </a:t>
            </a:r>
            <a:r>
              <a:rPr lang="en-GB" dirty="0"/>
              <a:t>but are </a:t>
            </a:r>
            <a:r>
              <a:rPr lang="en-GB" b="1" dirty="0"/>
              <a:t>non-volatile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1"/>
            <a:endParaRPr lang="en-GB" dirty="0"/>
          </a:p>
        </p:txBody>
      </p:sp>
      <p:pic>
        <p:nvPicPr>
          <p:cNvPr id="4" name="Immagine 3" descr="Immagine che contiene Viso umano, testo, uomo, persona&#10;&#10;Descrizione generata automaticamente">
            <a:extLst>
              <a:ext uri="{FF2B5EF4-FFF2-40B4-BE49-F238E27FC236}">
                <a16:creationId xmlns:a16="http://schemas.microsoft.com/office/drawing/2014/main" id="{4675D4D2-DBEA-E414-1F64-CF403AA33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0997" y="195799"/>
            <a:ext cx="4039203" cy="1130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1949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Lookup tables (LUT)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Memory arrays can also </a:t>
            </a:r>
            <a:r>
              <a:rPr lang="en-GB" b="1" dirty="0"/>
              <a:t>perform combinational logic functions</a:t>
            </a:r>
          </a:p>
          <a:p>
            <a:pPr lvl="1"/>
            <a:r>
              <a:rPr lang="en-GB" dirty="0"/>
              <a:t>each address corresponds to a row in the truth table</a:t>
            </a:r>
          </a:p>
          <a:p>
            <a:pPr lvl="1"/>
            <a:r>
              <a:rPr lang="en-GB" dirty="0"/>
              <a:t>each data bit corresponds to an output value</a:t>
            </a:r>
          </a:p>
          <a:p>
            <a:endParaRPr lang="en-GB" dirty="0"/>
          </a:p>
          <a:p>
            <a:r>
              <a:rPr lang="en-GB" dirty="0"/>
              <a:t>A 2</a:t>
            </a:r>
            <a:r>
              <a:rPr lang="en-GB" baseline="30000" dirty="0"/>
              <a:t>N</a:t>
            </a:r>
            <a:r>
              <a:rPr lang="en-GB" dirty="0"/>
              <a:t>-word × M-bit memory can perform any combinational function of N inputs and M outputs</a:t>
            </a:r>
          </a:p>
          <a:p>
            <a:pPr marL="120650" indent="0">
              <a:buNone/>
            </a:pPr>
            <a:endParaRPr lang="en-GB" dirty="0"/>
          </a:p>
          <a:p>
            <a:r>
              <a:rPr lang="en-GB" dirty="0"/>
              <a:t>The following figure shows a LUT (4-word × 1-bit)  </a:t>
            </a:r>
            <a:br>
              <a:rPr lang="en-GB" dirty="0"/>
            </a:br>
            <a:r>
              <a:rPr lang="en-GB" dirty="0"/>
              <a:t>to perform the function Y = AB</a:t>
            </a:r>
          </a:p>
          <a:p>
            <a:endParaRPr lang="en-GB" dirty="0"/>
          </a:p>
          <a:p>
            <a:pPr lvl="1"/>
            <a:endParaRPr lang="en-GB" dirty="0"/>
          </a:p>
        </p:txBody>
      </p:sp>
      <p:pic>
        <p:nvPicPr>
          <p:cNvPr id="4" name="Immagine 3" descr="Immagine che contiene linea, schermata, numero, diagramma&#10;&#10;Descrizione generata automaticamente">
            <a:extLst>
              <a:ext uri="{FF2B5EF4-FFF2-40B4-BE49-F238E27FC236}">
                <a16:creationId xmlns:a16="http://schemas.microsoft.com/office/drawing/2014/main" id="{02E14479-FA77-891D-0B19-60509F5C7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2740" y="4065405"/>
            <a:ext cx="1594944" cy="2084398"/>
          </a:xfrm>
          <a:prstGeom prst="rect">
            <a:avLst/>
          </a:prstGeom>
        </p:spPr>
      </p:pic>
      <p:pic>
        <p:nvPicPr>
          <p:cNvPr id="6" name="Immagine 5" descr="Immagine che contiene testo, diagramma, linea, Piano&#10;&#10;Descrizione generata automaticamente">
            <a:extLst>
              <a:ext uri="{FF2B5EF4-FFF2-40B4-BE49-F238E27FC236}">
                <a16:creationId xmlns:a16="http://schemas.microsoft.com/office/drawing/2014/main" id="{D45897C7-9286-C5DF-83CE-49EAB23333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3077" y="3147089"/>
            <a:ext cx="2877887" cy="3334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0783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Programmable Logic Array (PLA)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Like memory, gates can be </a:t>
            </a:r>
            <a:r>
              <a:rPr lang="en-GB" b="1" dirty="0"/>
              <a:t>organized into regular arrays </a:t>
            </a:r>
          </a:p>
          <a:p>
            <a:pPr lvl="1"/>
            <a:r>
              <a:rPr lang="en-GB" dirty="0"/>
              <a:t>if connections are made programmable, they can be configured to perform any function  </a:t>
            </a:r>
          </a:p>
          <a:p>
            <a:r>
              <a:rPr lang="en-GB" dirty="0"/>
              <a:t>PLA implement two-level combinational logic in sum-of-products form</a:t>
            </a:r>
          </a:p>
          <a:p>
            <a:pPr lvl="1"/>
            <a:r>
              <a:rPr lang="en-GB" dirty="0"/>
              <a:t>the inputs (in true and complementary form) drive an AND array</a:t>
            </a:r>
          </a:p>
          <a:p>
            <a:pPr lvl="2"/>
            <a:r>
              <a:rPr lang="en-GB" dirty="0"/>
              <a:t>which produces implicants</a:t>
            </a:r>
          </a:p>
          <a:p>
            <a:pPr lvl="1"/>
            <a:r>
              <a:rPr lang="en-GB" dirty="0"/>
              <a:t>the implicants, in turn, are </a:t>
            </a:r>
            <a:r>
              <a:rPr lang="en-GB" dirty="0" err="1"/>
              <a:t>ORed</a:t>
            </a:r>
            <a:r>
              <a:rPr lang="en-GB" dirty="0"/>
              <a:t> together to form the outputs</a:t>
            </a:r>
            <a:endParaRPr lang="en-GB" sz="500" dirty="0"/>
          </a:p>
          <a:p>
            <a:r>
              <a:rPr lang="en-GB" dirty="0"/>
              <a:t>An M×N×P-bit PLA has M inputs, N implicants, and P outputs</a:t>
            </a:r>
          </a:p>
          <a:p>
            <a:pPr lvl="1"/>
            <a:endParaRPr lang="en-GB" dirty="0"/>
          </a:p>
        </p:txBody>
      </p:sp>
      <p:pic>
        <p:nvPicPr>
          <p:cNvPr id="4" name="Immagine 3" descr="Immagine che contiene testo, diagramma, linea, calligrafia&#10;&#10;Descrizione generata automaticamente">
            <a:extLst>
              <a:ext uri="{FF2B5EF4-FFF2-40B4-BE49-F238E27FC236}">
                <a16:creationId xmlns:a16="http://schemas.microsoft.com/office/drawing/2014/main" id="{11610FC4-A78B-766A-0C5D-2DE7B08762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6" y="4043892"/>
            <a:ext cx="3991707" cy="258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7251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Programmable Logic Array (PLA)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131855"/>
            <a:ext cx="8818500" cy="534962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Example:</a:t>
            </a:r>
            <a:endParaRPr lang="en-GB" u="sng" dirty="0"/>
          </a:p>
          <a:p>
            <a:pPr lvl="0"/>
            <a:endParaRPr lang="en-GB" sz="500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</p:txBody>
      </p:sp>
      <p:pic>
        <p:nvPicPr>
          <p:cNvPr id="5" name="Immagine 4" descr="Immagine che contiene Carattere, testo, bianco, tipografia&#10;&#10;Descrizione generata automaticamente">
            <a:extLst>
              <a:ext uri="{FF2B5EF4-FFF2-40B4-BE49-F238E27FC236}">
                <a16:creationId xmlns:a16="http://schemas.microsoft.com/office/drawing/2014/main" id="{FBADA169-2A82-BF41-4698-1E17CFF48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681" y="1575324"/>
            <a:ext cx="1346200" cy="558800"/>
          </a:xfrm>
          <a:prstGeom prst="rect">
            <a:avLst/>
          </a:prstGeom>
        </p:spPr>
      </p:pic>
      <p:pic>
        <p:nvPicPr>
          <p:cNvPr id="9" name="Immagine 8" descr="Immagine che contiene diagramma, linea, Piano, Disegno tecnico&#10;&#10;Descrizione generata automaticamente">
            <a:extLst>
              <a:ext uri="{FF2B5EF4-FFF2-40B4-BE49-F238E27FC236}">
                <a16:creationId xmlns:a16="http://schemas.microsoft.com/office/drawing/2014/main" id="{F5D3C964-5CE0-9642-955F-E281A5B7FD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2531" y="1043733"/>
            <a:ext cx="3331779" cy="2888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7495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Field Programmable Gate Array (FPGA)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4168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An array of </a:t>
            </a:r>
            <a:r>
              <a:rPr lang="en-GB" b="1" dirty="0"/>
              <a:t>reconfigurable logic elements (LE)</a:t>
            </a:r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pPr lvl="0"/>
            <a:endParaRPr lang="en-GB" b="1" dirty="0"/>
          </a:p>
          <a:p>
            <a:r>
              <a:rPr lang="en-GB" dirty="0"/>
              <a:t>LE can be configured to perform combinational or sequential functions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273F2440-1516-65F2-1D12-71E0C872B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458" y="1562171"/>
            <a:ext cx="7410942" cy="4043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0349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Field Programmable Gate Array (FPGA)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71450" y="963051"/>
            <a:ext cx="8818500" cy="56797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A single LE from Intel’s Cyclone IV FPGA</a:t>
            </a:r>
          </a:p>
          <a:p>
            <a:pPr marL="590550" lvl="1" indent="0">
              <a:buNone/>
            </a:pPr>
            <a:endParaRPr lang="en-GB" dirty="0"/>
          </a:p>
        </p:txBody>
      </p:sp>
      <p:pic>
        <p:nvPicPr>
          <p:cNvPr id="3" name="Immagine 2" descr="Immagine che contiene testo, diagramma, Piano, linea&#10;&#10;Descrizione generata automaticamente">
            <a:extLst>
              <a:ext uri="{FF2B5EF4-FFF2-40B4-BE49-F238E27FC236}">
                <a16:creationId xmlns:a16="http://schemas.microsoft.com/office/drawing/2014/main" id="{BBB2DC54-CA9C-A7F6-A29C-1B126B500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050" y="1540290"/>
            <a:ext cx="8028632" cy="4704393"/>
          </a:xfrm>
          <a:prstGeom prst="rect">
            <a:avLst/>
          </a:prstGeom>
        </p:spPr>
      </p:pic>
      <p:pic>
        <p:nvPicPr>
          <p:cNvPr id="5" name="Immagine 4" descr="Immagine che contiene testo, diagramma, Piano, linea&#10;&#10;Descrizione generata automaticamente">
            <a:extLst>
              <a:ext uri="{FF2B5EF4-FFF2-40B4-BE49-F238E27FC236}">
                <a16:creationId xmlns:a16="http://schemas.microsoft.com/office/drawing/2014/main" id="{FEF74A06-8D5A-F939-A788-B9AF42229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1" y="1375168"/>
            <a:ext cx="8989950" cy="526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998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257240B0-E591-F51A-DA99-FA1AEE918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040326EC-91A2-E2AB-7A81-CFA53E8EC11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Field Programmable Gate Array (FPGA) (3)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F96AE378-1655-DED7-60E6-ACCD1F8F2D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1450" y="963051"/>
            <a:ext cx="8818500" cy="56797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The power of an FPGA emerges from </a:t>
            </a:r>
            <a:r>
              <a:rPr lang="en-GB" b="1" dirty="0"/>
              <a:t>scale</a:t>
            </a:r>
          </a:p>
          <a:p>
            <a:pPr lvl="1"/>
            <a:r>
              <a:rPr lang="en-GB" dirty="0"/>
              <a:t>each LE can be connected (flexibly and dynamically) to many others</a:t>
            </a:r>
          </a:p>
          <a:p>
            <a:pPr lvl="1"/>
            <a:r>
              <a:rPr lang="en-GB" dirty="0"/>
              <a:t>allowing thousands of simple elements to cooperate in complex digital systems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Circles represent </a:t>
            </a:r>
            <a:r>
              <a:rPr lang="en-GB" b="1" dirty="0"/>
              <a:t>programmable routing switches</a:t>
            </a:r>
            <a:r>
              <a:rPr lang="en-GB" dirty="0"/>
              <a:t> that allow the output of a logic cell to be directed almost anywhere on the chip</a:t>
            </a:r>
          </a:p>
          <a:p>
            <a:endParaRPr lang="en-GB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AA1D746F-8357-ABC4-B011-856C16552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14" y="2023728"/>
            <a:ext cx="5372988" cy="3871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9076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E5BB3BDF-8C94-0C46-0D40-B521A41A2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13EF303C-2F1B-1FE3-EBB9-C92C29EF9E2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Field Programmable Gate Array (FPGA) (4)</a:t>
            </a:r>
            <a:endParaRPr dirty="0"/>
          </a:p>
        </p:txBody>
      </p:sp>
      <p:sp>
        <p:nvSpPr>
          <p:cNvPr id="84" name="Google Shape;84;p14">
            <a:extLst>
              <a:ext uri="{FF2B5EF4-FFF2-40B4-BE49-F238E27FC236}">
                <a16:creationId xmlns:a16="http://schemas.microsoft.com/office/drawing/2014/main" id="{392038AF-C5C7-9189-38C9-438B221846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1450" y="963051"/>
            <a:ext cx="8818500" cy="56797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LEs are surrounded by </a:t>
            </a:r>
            <a:r>
              <a:rPr lang="en-GB" b="1" dirty="0"/>
              <a:t>input/output elements</a:t>
            </a:r>
            <a:r>
              <a:rPr lang="en-GB" dirty="0"/>
              <a:t> (</a:t>
            </a:r>
            <a:r>
              <a:rPr lang="en-GB" b="1" dirty="0"/>
              <a:t>IOE</a:t>
            </a:r>
            <a:r>
              <a:rPr lang="en-GB" dirty="0"/>
              <a:t>) for interfacing with the outside world</a:t>
            </a:r>
          </a:p>
          <a:p>
            <a:pPr lvl="1"/>
            <a:r>
              <a:rPr lang="en-GB" dirty="0"/>
              <a:t>IOEs inputs and outputs to pins on the chip package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8961FEC5-79AC-99CE-87D9-C7D041498F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3193"/>
          <a:stretch>
            <a:fillRect/>
          </a:stretch>
        </p:blipFill>
        <p:spPr>
          <a:xfrm>
            <a:off x="1578429" y="2037803"/>
            <a:ext cx="5192485" cy="4507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9773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Field Programmable Gate Array (FPGA) (5)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89622"/>
            <a:ext cx="8818500" cy="51471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The designer configures an FPGA by first creating an HDL description</a:t>
            </a:r>
          </a:p>
          <a:p>
            <a:r>
              <a:rPr lang="en-GB" dirty="0"/>
              <a:t>The design is then synthesized onto the FPGA</a:t>
            </a:r>
          </a:p>
          <a:p>
            <a:pPr lvl="1"/>
            <a:r>
              <a:rPr lang="en-GB" dirty="0"/>
              <a:t>determines how the LUTs, multiplexers, and routing channels should be configured to perform the specified function</a:t>
            </a:r>
          </a:p>
          <a:p>
            <a:r>
              <a:rPr lang="en-GB" dirty="0"/>
              <a:t>This configuration information is then downloaded to the FPGA </a:t>
            </a:r>
          </a:p>
          <a:p>
            <a:pPr lvl="2"/>
            <a:endParaRPr lang="en-GB" sz="100" dirty="0"/>
          </a:p>
          <a:p>
            <a:r>
              <a:rPr lang="en-GB" dirty="0"/>
              <a:t>DEEDS is capable of creating an HDL description of our schematic that can be deployed on a real FPGA, as we will see in the next semester!</a:t>
            </a:r>
          </a:p>
        </p:txBody>
      </p:sp>
    </p:spTree>
    <p:extLst>
      <p:ext uri="{BB962C8B-B14F-4D97-AF65-F5344CB8AC3E}">
        <p14:creationId xmlns:p14="http://schemas.microsoft.com/office/powerpoint/2010/main" val="3672496764"/>
      </p:ext>
    </p:extLst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9b5433c-2372-4cb7-8bab-09518096b29b" xsi:nil="true"/>
    <lcf76f155ced4ddcb4097134ff3c332f xmlns="3bd0d43f-5e5b-43cd-b6fc-691bd77672c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8FA822B18A0634FB7342CF29752587A" ma:contentTypeVersion="12" ma:contentTypeDescription="Creare un nuovo documento." ma:contentTypeScope="" ma:versionID="4c8b1e8002f5a6c880c83187af115cef">
  <xsd:schema xmlns:xsd="http://www.w3.org/2001/XMLSchema" xmlns:xs="http://www.w3.org/2001/XMLSchema" xmlns:p="http://schemas.microsoft.com/office/2006/metadata/properties" xmlns:ns2="3bd0d43f-5e5b-43cd-b6fc-691bd77672c6" xmlns:ns3="e9b5433c-2372-4cb7-8bab-09518096b29b" targetNamespace="http://schemas.microsoft.com/office/2006/metadata/properties" ma:root="true" ma:fieldsID="618b708abf3b656f834d84e193700042" ns2:_="" ns3:_="">
    <xsd:import namespace="3bd0d43f-5e5b-43cd-b6fc-691bd77672c6"/>
    <xsd:import namespace="e9b5433c-2372-4cb7-8bab-09518096b29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d0d43f-5e5b-43cd-b6fc-691bd77672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b3f316dc-fb4b-4146-8b22-f4ef2efe4b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b5433c-2372-4cb7-8bab-09518096b29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c4bbe8c-9a55-4d5f-b385-d948ddfe6c4d}" ma:internalName="TaxCatchAll" ma:showField="CatchAllData" ma:web="e9b5433c-2372-4cb7-8bab-09518096b2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18D92DE-74D8-4E8D-B660-A4E78A2499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5D0B8B2-4476-4716-BA59-88DF709D873D}">
  <ds:schemaRefs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elements/1.1/"/>
    <ds:schemaRef ds:uri="http://purl.org/dc/dcmitype/"/>
    <ds:schemaRef ds:uri="http://schemas.microsoft.com/office/2006/metadata/properties"/>
    <ds:schemaRef ds:uri="http://purl.org/dc/terms/"/>
    <ds:schemaRef ds:uri="http://schemas.openxmlformats.org/package/2006/metadata/core-properties"/>
    <ds:schemaRef ds:uri="e9b5433c-2372-4cb7-8bab-09518096b29b"/>
    <ds:schemaRef ds:uri="3bd0d43f-5e5b-43cd-b6fc-691bd77672c6"/>
  </ds:schemaRefs>
</ds:datastoreItem>
</file>

<file path=customXml/itemProps3.xml><?xml version="1.0" encoding="utf-8"?>
<ds:datastoreItem xmlns:ds="http://schemas.openxmlformats.org/officeDocument/2006/customXml" ds:itemID="{209A5D33-C100-4F4E-A85B-9E1EF0319A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d0d43f-5e5b-43cd-b6fc-691bd77672c6"/>
    <ds:schemaRef ds:uri="e9b5433c-2372-4cb7-8bab-09518096b2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12950</TotalTime>
  <Words>2331</Words>
  <Application>Microsoft Macintosh PowerPoint</Application>
  <PresentationFormat>Presentazione su schermo (4:3)</PresentationFormat>
  <Paragraphs>341</Paragraphs>
  <Slides>28</Slides>
  <Notes>27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28</vt:i4>
      </vt:variant>
    </vt:vector>
  </HeadingPairs>
  <TitlesOfParts>
    <vt:vector size="32" baseType="lpstr">
      <vt:lpstr>Arial</vt:lpstr>
      <vt:lpstr>Economica</vt:lpstr>
      <vt:lpstr>Open Sans</vt:lpstr>
      <vt:lpstr>Luxe</vt:lpstr>
      <vt:lpstr>Sequential Building Blocks</vt:lpstr>
      <vt:lpstr>Index</vt:lpstr>
      <vt:lpstr>Building Blocks</vt:lpstr>
      <vt:lpstr>Counters</vt:lpstr>
      <vt:lpstr>Digitally Controlled Oscillator (DCO)</vt:lpstr>
      <vt:lpstr>Shift Registers (1)</vt:lpstr>
      <vt:lpstr>Shift Registers (2)</vt:lpstr>
      <vt:lpstr>Scan Chains</vt:lpstr>
      <vt:lpstr>Memory (1)</vt:lpstr>
      <vt:lpstr>Memory (2)</vt:lpstr>
      <vt:lpstr>Memory Arrays</vt:lpstr>
      <vt:lpstr>Bit Cell (1)</vt:lpstr>
      <vt:lpstr>Bit Cell (2)</vt:lpstr>
      <vt:lpstr>Dynamic Random Access Memory (DRAM)</vt:lpstr>
      <vt:lpstr>Static Random Access Memory (SRAM)</vt:lpstr>
      <vt:lpstr>Register Files</vt:lpstr>
      <vt:lpstr>Memory comparison</vt:lpstr>
      <vt:lpstr>Read Only Memory (ROM) (1)</vt:lpstr>
      <vt:lpstr>Programmable ROM</vt:lpstr>
      <vt:lpstr>Re-programmable ROM </vt:lpstr>
      <vt:lpstr>Lookup tables (LUT)</vt:lpstr>
      <vt:lpstr>Programmable Logic Array (PLA)</vt:lpstr>
      <vt:lpstr>Programmable Logic Array (PLA)</vt:lpstr>
      <vt:lpstr>Field Programmable Gate Array (FPGA) (1)</vt:lpstr>
      <vt:lpstr>Field Programmable Gate Array (FPGA) (2)</vt:lpstr>
      <vt:lpstr>Field Programmable Gate Array (FPGA) (3)</vt:lpstr>
      <vt:lpstr>Field Programmable Gate Array (FPGA) (4)</vt:lpstr>
      <vt:lpstr>Field Programmable Gate Array (FPGA) (5)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Digital Abstraction</dc:title>
  <dc:subject/>
  <dc:creator/>
  <cp:keywords/>
  <dc:description/>
  <cp:lastModifiedBy>Riccardo Berta</cp:lastModifiedBy>
  <cp:revision>22</cp:revision>
  <dcterms:modified xsi:type="dcterms:W3CDTF">2025-12-05T10:30:10Z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0x010100B8FA822B18A0634FB7342CF29752587A</vt:lpwstr>
  </property>
</Properties>
</file>