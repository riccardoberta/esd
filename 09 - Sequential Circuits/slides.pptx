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8"/>
  </p:notesMasterIdLst>
  <p:sldIdLst>
    <p:sldId id="256" r:id="rId5"/>
    <p:sldId id="259" r:id="rId6"/>
    <p:sldId id="257" r:id="rId7"/>
    <p:sldId id="260" r:id="rId8"/>
    <p:sldId id="261" r:id="rId9"/>
    <p:sldId id="262" r:id="rId10"/>
    <p:sldId id="264" r:id="rId11"/>
    <p:sldId id="265" r:id="rId12"/>
    <p:sldId id="292" r:id="rId13"/>
    <p:sldId id="266" r:id="rId14"/>
    <p:sldId id="293" r:id="rId15"/>
    <p:sldId id="267" r:id="rId16"/>
    <p:sldId id="268" r:id="rId17"/>
    <p:sldId id="294" r:id="rId18"/>
    <p:sldId id="271" r:id="rId19"/>
    <p:sldId id="269" r:id="rId20"/>
    <p:sldId id="295" r:id="rId21"/>
    <p:sldId id="273" r:id="rId22"/>
    <p:sldId id="296" r:id="rId23"/>
    <p:sldId id="274" r:id="rId24"/>
    <p:sldId id="297" r:id="rId25"/>
    <p:sldId id="275" r:id="rId26"/>
    <p:sldId id="276" r:id="rId27"/>
    <p:sldId id="270" r:id="rId28"/>
    <p:sldId id="285" r:id="rId29"/>
    <p:sldId id="282" r:id="rId30"/>
    <p:sldId id="299" r:id="rId31"/>
    <p:sldId id="283" r:id="rId32"/>
    <p:sldId id="284" r:id="rId33"/>
    <p:sldId id="290" r:id="rId34"/>
    <p:sldId id="291" r:id="rId35"/>
    <p:sldId id="298" r:id="rId36"/>
    <p:sldId id="287" r:id="rId37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9"/>
      <p:bold r:id="rId40"/>
      <p:italic r:id="rId41"/>
      <p:boldItalic r:id="rId42"/>
    </p:embeddedFont>
    <p:embeddedFont>
      <p:font typeface="Open Sans" panose="020B0606030504020204" pitchFamily="34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C6CF165-B1F5-C44B-98EE-796F9CD6AA0D}" v="42" dt="2025-11-21T11:01:50.1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15"/>
    <p:restoredTop sz="92289"/>
  </p:normalViewPr>
  <p:slideViewPr>
    <p:cSldViewPr snapToGrid="0" snapToObjects="1">
      <p:cViewPr varScale="1">
        <p:scale>
          <a:sx n="130" d="100"/>
          <a:sy n="130" d="100"/>
        </p:scale>
        <p:origin x="27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4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6.fntdata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5.fntdata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51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notesMaster" Target="notesMasters/notesMaster1.xml"/><Relationship Id="rId46" Type="http://schemas.openxmlformats.org/officeDocument/2006/relationships/font" Target="fonts/font8.fntdata"/><Relationship Id="rId20" Type="http://schemas.openxmlformats.org/officeDocument/2006/relationships/slide" Target="slides/slide16.xml"/><Relationship Id="rId41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undo custSel addSld delSld modSld sldOrd">
      <pc:chgData name="Riccardo Berta" userId="c8694f89-bba4-4576-b0a8-456619ca5a8c" providerId="ADAL" clId="{FDDBFC5A-5EA9-5330-BEB8-433D7E3B4C4E}" dt="2025-11-21T11:01:50.194" v="595" actId="20578"/>
      <pc:docMkLst>
        <pc:docMk/>
      </pc:docMkLst>
      <pc:sldChg chg="modSp mod">
        <pc:chgData name="Riccardo Berta" userId="c8694f89-bba4-4576-b0a8-456619ca5a8c" providerId="ADAL" clId="{FDDBFC5A-5EA9-5330-BEB8-433D7E3B4C4E}" dt="2025-11-18T17:01:25.906" v="107" actId="5793"/>
        <pc:sldMkLst>
          <pc:docMk/>
          <pc:sldMk cId="3018556184" sldId="259"/>
        </pc:sldMkLst>
        <pc:spChg chg="mod">
          <ac:chgData name="Riccardo Berta" userId="c8694f89-bba4-4576-b0a8-456619ca5a8c" providerId="ADAL" clId="{FDDBFC5A-5EA9-5330-BEB8-433D7E3B4C4E}" dt="2025-11-18T17:01:25.906" v="107" actId="5793"/>
          <ac:spMkLst>
            <pc:docMk/>
            <pc:sldMk cId="3018556184" sldId="259"/>
            <ac:spMk id="3" creationId="{38BFAA1C-1163-169B-2D77-6FEF73CC8512}"/>
          </ac:spMkLst>
        </pc:spChg>
      </pc:sldChg>
      <pc:sldChg chg="ord">
        <pc:chgData name="Riccardo Berta" userId="c8694f89-bba4-4576-b0a8-456619ca5a8c" providerId="ADAL" clId="{FDDBFC5A-5EA9-5330-BEB8-433D7E3B4C4E}" dt="2025-11-18T12:00:40.504" v="10" actId="20578"/>
        <pc:sldMkLst>
          <pc:docMk/>
          <pc:sldMk cId="3820686645" sldId="269"/>
        </pc:sldMkLst>
      </pc:sldChg>
      <pc:sldChg chg="ord">
        <pc:chgData name="Riccardo Berta" userId="c8694f89-bba4-4576-b0a8-456619ca5a8c" providerId="ADAL" clId="{FDDBFC5A-5EA9-5330-BEB8-433D7E3B4C4E}" dt="2025-11-18T08:55:22.562" v="8" actId="20578"/>
        <pc:sldMkLst>
          <pc:docMk/>
          <pc:sldMk cId="2901323324" sldId="270"/>
        </pc:sldMkLst>
      </pc:sldChg>
      <pc:sldChg chg="ord">
        <pc:chgData name="Riccardo Berta" userId="c8694f89-bba4-4576-b0a8-456619ca5a8c" providerId="ADAL" clId="{FDDBFC5A-5EA9-5330-BEB8-433D7E3B4C4E}" dt="2025-11-18T12:01:23.122" v="11" actId="20578"/>
        <pc:sldMkLst>
          <pc:docMk/>
          <pc:sldMk cId="2089173642" sldId="271"/>
        </pc:sldMkLst>
      </pc:sldChg>
      <pc:sldChg chg="ord">
        <pc:chgData name="Riccardo Berta" userId="c8694f89-bba4-4576-b0a8-456619ca5a8c" providerId="ADAL" clId="{FDDBFC5A-5EA9-5330-BEB8-433D7E3B4C4E}" dt="2025-11-18T08:55:03.040" v="4" actId="20578"/>
        <pc:sldMkLst>
          <pc:docMk/>
          <pc:sldMk cId="1628651603" sldId="273"/>
        </pc:sldMkLst>
      </pc:sldChg>
      <pc:sldChg chg="addSp delSp modSp mod ord">
        <pc:chgData name="Riccardo Berta" userId="c8694f89-bba4-4576-b0a8-456619ca5a8c" providerId="ADAL" clId="{FDDBFC5A-5EA9-5330-BEB8-433D7E3B4C4E}" dt="2025-11-21T06:40:59.297" v="387" actId="1035"/>
        <pc:sldMkLst>
          <pc:docMk/>
          <pc:sldMk cId="2042415745" sldId="274"/>
        </pc:sldMkLst>
        <pc:spChg chg="mod">
          <ac:chgData name="Riccardo Berta" userId="c8694f89-bba4-4576-b0a8-456619ca5a8c" providerId="ADAL" clId="{FDDBFC5A-5EA9-5330-BEB8-433D7E3B4C4E}" dt="2025-11-21T06:40:57.192" v="383" actId="1035"/>
          <ac:spMkLst>
            <pc:docMk/>
            <pc:sldMk cId="2042415745" sldId="274"/>
            <ac:spMk id="84" creationId="{00000000-0000-0000-0000-000000000000}"/>
          </ac:spMkLst>
        </pc:spChg>
        <pc:picChg chg="add del">
          <ac:chgData name="Riccardo Berta" userId="c8694f89-bba4-4576-b0a8-456619ca5a8c" providerId="ADAL" clId="{FDDBFC5A-5EA9-5330-BEB8-433D7E3B4C4E}" dt="2025-11-21T06:40:01.972" v="358" actId="478"/>
          <ac:picMkLst>
            <pc:docMk/>
            <pc:sldMk cId="2042415745" sldId="274"/>
            <ac:picMk id="2" creationId="{5E3C78A0-5D4A-82C2-3E18-8764CD807BD8}"/>
          </ac:picMkLst>
        </pc:picChg>
        <pc:picChg chg="del">
          <ac:chgData name="Riccardo Berta" userId="c8694f89-bba4-4576-b0a8-456619ca5a8c" providerId="ADAL" clId="{FDDBFC5A-5EA9-5330-BEB8-433D7E3B4C4E}" dt="2025-11-21T06:39:20.776" v="353" actId="478"/>
          <ac:picMkLst>
            <pc:docMk/>
            <pc:sldMk cId="2042415745" sldId="274"/>
            <ac:picMk id="4" creationId="{3C4CFB68-3F03-EEE7-FFA5-B9CA7253A21B}"/>
          </ac:picMkLst>
        </pc:picChg>
        <pc:picChg chg="add mod">
          <ac:chgData name="Riccardo Berta" userId="c8694f89-bba4-4576-b0a8-456619ca5a8c" providerId="ADAL" clId="{FDDBFC5A-5EA9-5330-BEB8-433D7E3B4C4E}" dt="2025-11-21T06:40:59.297" v="387" actId="1035"/>
          <ac:picMkLst>
            <pc:docMk/>
            <pc:sldMk cId="2042415745" sldId="274"/>
            <ac:picMk id="5" creationId="{AD6C051C-FD9A-08EE-483E-8D041821025E}"/>
          </ac:picMkLst>
        </pc:picChg>
      </pc:sldChg>
      <pc:sldChg chg="ord">
        <pc:chgData name="Riccardo Berta" userId="c8694f89-bba4-4576-b0a8-456619ca5a8c" providerId="ADAL" clId="{FDDBFC5A-5EA9-5330-BEB8-433D7E3B4C4E}" dt="2025-11-18T08:55:12.351" v="6" actId="20578"/>
        <pc:sldMkLst>
          <pc:docMk/>
          <pc:sldMk cId="1321600114" sldId="275"/>
        </pc:sldMkLst>
      </pc:sldChg>
      <pc:sldChg chg="ord">
        <pc:chgData name="Riccardo Berta" userId="c8694f89-bba4-4576-b0a8-456619ca5a8c" providerId="ADAL" clId="{FDDBFC5A-5EA9-5330-BEB8-433D7E3B4C4E}" dt="2025-11-18T08:55:17.008" v="7" actId="20578"/>
        <pc:sldMkLst>
          <pc:docMk/>
          <pc:sldMk cId="1093966794" sldId="276"/>
        </pc:sldMkLst>
      </pc:sldChg>
      <pc:sldChg chg="addSp delSp modSp mod">
        <pc:chgData name="Riccardo Berta" userId="c8694f89-bba4-4576-b0a8-456619ca5a8c" providerId="ADAL" clId="{FDDBFC5A-5EA9-5330-BEB8-433D7E3B4C4E}" dt="2025-11-21T06:57:45.647" v="594" actId="14100"/>
        <pc:sldMkLst>
          <pc:docMk/>
          <pc:sldMk cId="538881550" sldId="282"/>
        </pc:sldMkLst>
        <pc:spChg chg="mod">
          <ac:chgData name="Riccardo Berta" userId="c8694f89-bba4-4576-b0a8-456619ca5a8c" providerId="ADAL" clId="{FDDBFC5A-5EA9-5330-BEB8-433D7E3B4C4E}" dt="2025-11-18T17:43:26.273" v="295" actId="20577"/>
          <ac:spMkLst>
            <pc:docMk/>
            <pc:sldMk cId="538881550" sldId="282"/>
            <ac:spMk id="83" creationId="{00000000-0000-0000-0000-000000000000}"/>
          </ac:spMkLst>
        </pc:spChg>
        <pc:spChg chg="mod">
          <ac:chgData name="Riccardo Berta" userId="c8694f89-bba4-4576-b0a8-456619ca5a8c" providerId="ADAL" clId="{FDDBFC5A-5EA9-5330-BEB8-433D7E3B4C4E}" dt="2025-11-21T06:51:15.120" v="585" actId="313"/>
          <ac:spMkLst>
            <pc:docMk/>
            <pc:sldMk cId="538881550" sldId="282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1-21T06:57:45.647" v="594" actId="14100"/>
          <ac:picMkLst>
            <pc:docMk/>
            <pc:sldMk cId="538881550" sldId="282"/>
            <ac:picMk id="2" creationId="{350DA835-BD17-2A8C-6189-F173010AC834}"/>
          </ac:picMkLst>
        </pc:picChg>
        <pc:picChg chg="del">
          <ac:chgData name="Riccardo Berta" userId="c8694f89-bba4-4576-b0a8-456619ca5a8c" providerId="ADAL" clId="{FDDBFC5A-5EA9-5330-BEB8-433D7E3B4C4E}" dt="2025-11-21T06:57:34.400" v="588" actId="478"/>
          <ac:picMkLst>
            <pc:docMk/>
            <pc:sldMk cId="538881550" sldId="282"/>
            <ac:picMk id="4" creationId="{91EE14DA-5AFE-581B-0BCB-89756D0112A4}"/>
          </ac:picMkLst>
        </pc:picChg>
      </pc:sldChg>
      <pc:sldChg chg="modSp mod">
        <pc:chgData name="Riccardo Berta" userId="c8694f89-bba4-4576-b0a8-456619ca5a8c" providerId="ADAL" clId="{FDDBFC5A-5EA9-5330-BEB8-433D7E3B4C4E}" dt="2025-11-21T06:52:14.930" v="587" actId="14100"/>
        <pc:sldMkLst>
          <pc:docMk/>
          <pc:sldMk cId="3788638710" sldId="283"/>
        </pc:sldMkLst>
        <pc:spChg chg="mod">
          <ac:chgData name="Riccardo Berta" userId="c8694f89-bba4-4576-b0a8-456619ca5a8c" providerId="ADAL" clId="{FDDBFC5A-5EA9-5330-BEB8-433D7E3B4C4E}" dt="2025-11-21T06:52:14.930" v="587" actId="14100"/>
          <ac:spMkLst>
            <pc:docMk/>
            <pc:sldMk cId="3788638710" sldId="283"/>
            <ac:spMk id="84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5-11-21T06:43:59.997" v="395" actId="14100"/>
        <pc:sldMkLst>
          <pc:docMk/>
          <pc:sldMk cId="3568914927" sldId="285"/>
        </pc:sldMkLst>
        <pc:spChg chg="mod">
          <ac:chgData name="Riccardo Berta" userId="c8694f89-bba4-4576-b0a8-456619ca5a8c" providerId="ADAL" clId="{FDDBFC5A-5EA9-5330-BEB8-433D7E3B4C4E}" dt="2025-11-21T06:43:17.284" v="391" actId="20577"/>
          <ac:spMkLst>
            <pc:docMk/>
            <pc:sldMk cId="3568914927" sldId="285"/>
            <ac:spMk id="84" creationId="{00000000-0000-0000-0000-000000000000}"/>
          </ac:spMkLst>
        </pc:spChg>
        <pc:picChg chg="mod">
          <ac:chgData name="Riccardo Berta" userId="c8694f89-bba4-4576-b0a8-456619ca5a8c" providerId="ADAL" clId="{FDDBFC5A-5EA9-5330-BEB8-433D7E3B4C4E}" dt="2025-11-21T06:43:59.997" v="395" actId="14100"/>
          <ac:picMkLst>
            <pc:docMk/>
            <pc:sldMk cId="3568914927" sldId="285"/>
            <ac:picMk id="9" creationId="{FD88515B-0310-2CED-A8E9-C57D59491079}"/>
          </ac:picMkLst>
        </pc:picChg>
      </pc:sldChg>
      <pc:sldChg chg="addSp delSp modSp mod">
        <pc:chgData name="Riccardo Berta" userId="c8694f89-bba4-4576-b0a8-456619ca5a8c" providerId="ADAL" clId="{FDDBFC5A-5EA9-5330-BEB8-433D7E3B4C4E}" dt="2025-11-21T11:01:50.194" v="595" actId="20578"/>
        <pc:sldMkLst>
          <pc:docMk/>
          <pc:sldMk cId="988814933" sldId="287"/>
        </pc:sldMkLst>
        <pc:spChg chg="mod">
          <ac:chgData name="Riccardo Berta" userId="c8694f89-bba4-4576-b0a8-456619ca5a8c" providerId="ADAL" clId="{FDDBFC5A-5EA9-5330-BEB8-433D7E3B4C4E}" dt="2025-11-21T11:01:50.194" v="595" actId="20578"/>
          <ac:spMkLst>
            <pc:docMk/>
            <pc:sldMk cId="988814933" sldId="287"/>
            <ac:spMk id="84" creationId="{00000000-0000-0000-0000-000000000000}"/>
          </ac:spMkLst>
        </pc:spChg>
      </pc:sldChg>
      <pc:sldChg chg="addSp delSp modSp mod">
        <pc:chgData name="Riccardo Berta" userId="c8694f89-bba4-4576-b0a8-456619ca5a8c" providerId="ADAL" clId="{FDDBFC5A-5EA9-5330-BEB8-433D7E3B4C4E}" dt="2025-11-18T15:19:07.890" v="101" actId="14100"/>
        <pc:sldMkLst>
          <pc:docMk/>
          <pc:sldMk cId="987252913" sldId="290"/>
        </pc:sldMkLst>
        <pc:spChg chg="mod">
          <ac:chgData name="Riccardo Berta" userId="c8694f89-bba4-4576-b0a8-456619ca5a8c" providerId="ADAL" clId="{FDDBFC5A-5EA9-5330-BEB8-433D7E3B4C4E}" dt="2025-11-18T15:18:56.373" v="96" actId="14100"/>
          <ac:spMkLst>
            <pc:docMk/>
            <pc:sldMk cId="987252913" sldId="290"/>
            <ac:spMk id="84" creationId="{00000000-0000-0000-0000-000000000000}"/>
          </ac:spMkLst>
        </pc:spChg>
        <pc:picChg chg="add mod">
          <ac:chgData name="Riccardo Berta" userId="c8694f89-bba4-4576-b0a8-456619ca5a8c" providerId="ADAL" clId="{FDDBFC5A-5EA9-5330-BEB8-433D7E3B4C4E}" dt="2025-11-18T15:19:07.890" v="101" actId="14100"/>
          <ac:picMkLst>
            <pc:docMk/>
            <pc:sldMk cId="987252913" sldId="290"/>
            <ac:picMk id="2" creationId="{D919F431-5766-B488-CAF2-097516BC5E55}"/>
          </ac:picMkLst>
        </pc:picChg>
      </pc:sldChg>
      <pc:sldChg chg="addSp delSp modSp mod">
        <pc:chgData name="Riccardo Berta" userId="c8694f89-bba4-4576-b0a8-456619ca5a8c" providerId="ADAL" clId="{FDDBFC5A-5EA9-5330-BEB8-433D7E3B4C4E}" dt="2025-11-18T14:56:51.498" v="87" actId="1076"/>
        <pc:sldMkLst>
          <pc:docMk/>
          <pc:sldMk cId="1947911669" sldId="291"/>
        </pc:sldMkLst>
        <pc:picChg chg="add mod">
          <ac:chgData name="Riccardo Berta" userId="c8694f89-bba4-4576-b0a8-456619ca5a8c" providerId="ADAL" clId="{FDDBFC5A-5EA9-5330-BEB8-433D7E3B4C4E}" dt="2025-11-18T14:56:51.498" v="87" actId="1076"/>
          <ac:picMkLst>
            <pc:docMk/>
            <pc:sldMk cId="1947911669" sldId="291"/>
            <ac:picMk id="2" creationId="{29039813-6CAD-4457-5F56-2FADBD34EB2A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09:54.999" v="201" actId="1076"/>
        <pc:sldMkLst>
          <pc:docMk/>
          <pc:sldMk cId="311302665" sldId="292"/>
        </pc:sldMkLst>
        <pc:spChg chg="add mod">
          <ac:chgData name="Riccardo Berta" userId="c8694f89-bba4-4576-b0a8-456619ca5a8c" providerId="ADAL" clId="{FDDBFC5A-5EA9-5330-BEB8-433D7E3B4C4E}" dt="2025-11-18T17:09:54.999" v="201" actId="1076"/>
          <ac:spMkLst>
            <pc:docMk/>
            <pc:sldMk cId="311302665" sldId="292"/>
            <ac:spMk id="9" creationId="{A5C1966B-37FF-3DF7-29F3-C11CB3E787A2}"/>
          </ac:spMkLst>
        </pc:spChg>
        <pc:spChg chg="add mod">
          <ac:chgData name="Riccardo Berta" userId="c8694f89-bba4-4576-b0a8-456619ca5a8c" providerId="ADAL" clId="{FDDBFC5A-5EA9-5330-BEB8-433D7E3B4C4E}" dt="2025-11-18T17:09:52.831" v="200"/>
          <ac:spMkLst>
            <pc:docMk/>
            <pc:sldMk cId="311302665" sldId="292"/>
            <ac:spMk id="10" creationId="{466F99CC-429C-6089-BF4D-CB754E56889E}"/>
          </ac:spMkLst>
        </pc:spChg>
        <pc:spChg chg="mod">
          <ac:chgData name="Riccardo Berta" userId="c8694f89-bba4-4576-b0a8-456619ca5a8c" providerId="ADAL" clId="{FDDBFC5A-5EA9-5330-BEB8-433D7E3B4C4E}" dt="2025-11-18T17:02:35.087" v="125" actId="20577"/>
          <ac:spMkLst>
            <pc:docMk/>
            <pc:sldMk cId="311302665" sldId="292"/>
            <ac:spMk id="83" creationId="{B49367CA-0ACE-95F3-382A-E3DB1D4FB7E7}"/>
          </ac:spMkLst>
        </pc:spChg>
        <pc:picChg chg="add mod">
          <ac:chgData name="Riccardo Berta" userId="c8694f89-bba4-4576-b0a8-456619ca5a8c" providerId="ADAL" clId="{FDDBFC5A-5EA9-5330-BEB8-433D7E3B4C4E}" dt="2025-11-18T17:02:30.278" v="118" actId="1076"/>
          <ac:picMkLst>
            <pc:docMk/>
            <pc:sldMk cId="311302665" sldId="292"/>
            <ac:picMk id="6" creationId="{E618D646-FC6A-4979-CAE1-4B11665DA243}"/>
          </ac:picMkLst>
        </pc:picChg>
        <pc:picChg chg="add mod">
          <ac:chgData name="Riccardo Berta" userId="c8694f89-bba4-4576-b0a8-456619ca5a8c" providerId="ADAL" clId="{FDDBFC5A-5EA9-5330-BEB8-433D7E3B4C4E}" dt="2025-11-18T17:09:14.553" v="195" actId="1076"/>
          <ac:picMkLst>
            <pc:docMk/>
            <pc:sldMk cId="311302665" sldId="292"/>
            <ac:picMk id="8" creationId="{229435EC-F5A3-E2B1-7925-5B5E97CD361E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10:00.857" v="202"/>
        <pc:sldMkLst>
          <pc:docMk/>
          <pc:sldMk cId="1746144706" sldId="293"/>
        </pc:sldMkLst>
        <pc:spChg chg="mod">
          <ac:chgData name="Riccardo Berta" userId="c8694f89-bba4-4576-b0a8-456619ca5a8c" providerId="ADAL" clId="{FDDBFC5A-5EA9-5330-BEB8-433D7E3B4C4E}" dt="2025-11-18T17:03:11.970" v="137" actId="20577"/>
          <ac:spMkLst>
            <pc:docMk/>
            <pc:sldMk cId="1746144706" sldId="293"/>
            <ac:spMk id="83" creationId="{DFCB721D-77DB-0006-10B0-94107ADB6928}"/>
          </ac:spMkLst>
        </pc:spChg>
        <pc:picChg chg="add mod">
          <ac:chgData name="Riccardo Berta" userId="c8694f89-bba4-4576-b0a8-456619ca5a8c" providerId="ADAL" clId="{FDDBFC5A-5EA9-5330-BEB8-433D7E3B4C4E}" dt="2025-11-18T17:03:50.478" v="149" actId="1076"/>
          <ac:picMkLst>
            <pc:docMk/>
            <pc:sldMk cId="1746144706" sldId="293"/>
            <ac:picMk id="7" creationId="{FE5039FA-7B53-D0D2-6E70-8819E06A9CC0}"/>
          </ac:picMkLst>
        </pc:picChg>
        <pc:picChg chg="add mod">
          <ac:chgData name="Riccardo Berta" userId="c8694f89-bba4-4576-b0a8-456619ca5a8c" providerId="ADAL" clId="{FDDBFC5A-5EA9-5330-BEB8-433D7E3B4C4E}" dt="2025-11-18T17:03:48.463" v="148" actId="1076"/>
          <ac:picMkLst>
            <pc:docMk/>
            <pc:sldMk cId="1746144706" sldId="293"/>
            <ac:picMk id="9" creationId="{C632EC3C-B24E-DE17-6798-C49B990790F6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11:11.634" v="221" actId="1035"/>
        <pc:sldMkLst>
          <pc:docMk/>
          <pc:sldMk cId="3964582295" sldId="294"/>
        </pc:sldMkLst>
        <pc:spChg chg="add mod">
          <ac:chgData name="Riccardo Berta" userId="c8694f89-bba4-4576-b0a8-456619ca5a8c" providerId="ADAL" clId="{FDDBFC5A-5EA9-5330-BEB8-433D7E3B4C4E}" dt="2025-11-18T17:10:26.065" v="208" actId="14100"/>
          <ac:spMkLst>
            <pc:docMk/>
            <pc:sldMk cId="3964582295" sldId="294"/>
            <ac:spMk id="14" creationId="{82164892-2854-BDFD-A26C-9483E28DCB4A}"/>
          </ac:spMkLst>
        </pc:spChg>
        <pc:spChg chg="add mod">
          <ac:chgData name="Riccardo Berta" userId="c8694f89-bba4-4576-b0a8-456619ca5a8c" providerId="ADAL" clId="{FDDBFC5A-5EA9-5330-BEB8-433D7E3B4C4E}" dt="2025-11-18T17:11:00.170" v="216" actId="1076"/>
          <ac:spMkLst>
            <pc:docMk/>
            <pc:sldMk cId="3964582295" sldId="294"/>
            <ac:spMk id="15" creationId="{A77073D5-BC11-3CD9-1D57-26D1BFDB3C86}"/>
          </ac:spMkLst>
        </pc:spChg>
        <pc:spChg chg="add mod">
          <ac:chgData name="Riccardo Berta" userId="c8694f89-bba4-4576-b0a8-456619ca5a8c" providerId="ADAL" clId="{FDDBFC5A-5EA9-5330-BEB8-433D7E3B4C4E}" dt="2025-11-18T17:11:11.634" v="221" actId="1035"/>
          <ac:spMkLst>
            <pc:docMk/>
            <pc:sldMk cId="3964582295" sldId="294"/>
            <ac:spMk id="16" creationId="{6FED0BD6-A734-0561-2850-951FB084EEAE}"/>
          </ac:spMkLst>
        </pc:spChg>
        <pc:spChg chg="mod">
          <ac:chgData name="Riccardo Berta" userId="c8694f89-bba4-4576-b0a8-456619ca5a8c" providerId="ADAL" clId="{FDDBFC5A-5EA9-5330-BEB8-433D7E3B4C4E}" dt="2025-11-18T17:04:07.977" v="155" actId="20577"/>
          <ac:spMkLst>
            <pc:docMk/>
            <pc:sldMk cId="3964582295" sldId="294"/>
            <ac:spMk id="83" creationId="{F62EF561-98CE-137C-A557-6075C661F947}"/>
          </ac:spMkLst>
        </pc:spChg>
        <pc:picChg chg="add mod">
          <ac:chgData name="Riccardo Berta" userId="c8694f89-bba4-4576-b0a8-456619ca5a8c" providerId="ADAL" clId="{FDDBFC5A-5EA9-5330-BEB8-433D7E3B4C4E}" dt="2025-11-18T17:07:55.659" v="176" actId="1076"/>
          <ac:picMkLst>
            <pc:docMk/>
            <pc:sldMk cId="3964582295" sldId="294"/>
            <ac:picMk id="5" creationId="{BA9A6BF6-A967-C6F0-9724-F9440027B72B}"/>
          </ac:picMkLst>
        </pc:picChg>
        <pc:picChg chg="add mod">
          <ac:chgData name="Riccardo Berta" userId="c8694f89-bba4-4576-b0a8-456619ca5a8c" providerId="ADAL" clId="{FDDBFC5A-5EA9-5330-BEB8-433D7E3B4C4E}" dt="2025-11-18T17:10:44.749" v="215" actId="1076"/>
          <ac:picMkLst>
            <pc:docMk/>
            <pc:sldMk cId="3964582295" sldId="294"/>
            <ac:picMk id="8" creationId="{B22E6734-D3A4-5FB6-F0D0-4BD3E4470D23}"/>
          </ac:picMkLst>
        </pc:picChg>
        <pc:picChg chg="add mod">
          <ac:chgData name="Riccardo Berta" userId="c8694f89-bba4-4576-b0a8-456619ca5a8c" providerId="ADAL" clId="{FDDBFC5A-5EA9-5330-BEB8-433D7E3B4C4E}" dt="2025-11-18T17:07:55.659" v="176" actId="1076"/>
          <ac:picMkLst>
            <pc:docMk/>
            <pc:sldMk cId="3964582295" sldId="294"/>
            <ac:picMk id="10" creationId="{49932138-09DB-490D-656E-97E3514B1F30}"/>
          </ac:picMkLst>
        </pc:picChg>
        <pc:cxnChg chg="add mod">
          <ac:chgData name="Riccardo Berta" userId="c8694f89-bba4-4576-b0a8-456619ca5a8c" providerId="ADAL" clId="{FDDBFC5A-5EA9-5330-BEB8-433D7E3B4C4E}" dt="2025-11-18T17:07:55.659" v="176" actId="1076"/>
          <ac:cxnSpMkLst>
            <pc:docMk/>
            <pc:sldMk cId="3964582295" sldId="294"/>
            <ac:cxnSpMk id="12" creationId="{9E63353B-363D-AFE2-4EFC-870596792DE2}"/>
          </ac:cxnSpMkLst>
        </pc:cxnChg>
      </pc:sldChg>
      <pc:sldChg chg="addSp delSp modSp add mod">
        <pc:chgData name="Riccardo Berta" userId="c8694f89-bba4-4576-b0a8-456619ca5a8c" providerId="ADAL" clId="{FDDBFC5A-5EA9-5330-BEB8-433D7E3B4C4E}" dt="2025-11-18T17:11:22.398" v="224" actId="14100"/>
        <pc:sldMkLst>
          <pc:docMk/>
          <pc:sldMk cId="2465279949" sldId="295"/>
        </pc:sldMkLst>
        <pc:spChg chg="add mod">
          <ac:chgData name="Riccardo Berta" userId="c8694f89-bba4-4576-b0a8-456619ca5a8c" providerId="ADAL" clId="{FDDBFC5A-5EA9-5330-BEB8-433D7E3B4C4E}" dt="2025-11-18T17:11:22.398" v="224" actId="14100"/>
          <ac:spMkLst>
            <pc:docMk/>
            <pc:sldMk cId="2465279949" sldId="295"/>
            <ac:spMk id="9" creationId="{D2A66C81-8357-197D-0478-8F45D283079F}"/>
          </ac:spMkLst>
        </pc:spChg>
        <pc:spChg chg="mod">
          <ac:chgData name="Riccardo Berta" userId="c8694f89-bba4-4576-b0a8-456619ca5a8c" providerId="ADAL" clId="{FDDBFC5A-5EA9-5330-BEB8-433D7E3B4C4E}" dt="2025-11-18T17:08:08.027" v="182" actId="20577"/>
          <ac:spMkLst>
            <pc:docMk/>
            <pc:sldMk cId="2465279949" sldId="295"/>
            <ac:spMk id="83" creationId="{97BE35F4-9627-EAA1-ED4A-790F8851C704}"/>
          </ac:spMkLst>
        </pc:spChg>
        <pc:picChg chg="add mod">
          <ac:chgData name="Riccardo Berta" userId="c8694f89-bba4-4576-b0a8-456619ca5a8c" providerId="ADAL" clId="{FDDBFC5A-5EA9-5330-BEB8-433D7E3B4C4E}" dt="2025-11-18T17:08:39.022" v="189" actId="1076"/>
          <ac:picMkLst>
            <pc:docMk/>
            <pc:sldMk cId="2465279949" sldId="295"/>
            <ac:picMk id="6" creationId="{4F2504EB-1238-230F-2D60-84F9E7F6162C}"/>
          </ac:picMkLst>
        </pc:picChg>
        <pc:picChg chg="add mod">
          <ac:chgData name="Riccardo Berta" userId="c8694f89-bba4-4576-b0a8-456619ca5a8c" providerId="ADAL" clId="{FDDBFC5A-5EA9-5330-BEB8-433D7E3B4C4E}" dt="2025-11-18T17:08:54.192" v="193" actId="1076"/>
          <ac:picMkLst>
            <pc:docMk/>
            <pc:sldMk cId="2465279949" sldId="295"/>
            <ac:picMk id="8" creationId="{E8BE51AE-0EC8-BB98-6AE4-423E984CB30B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13:25.652" v="256" actId="1076"/>
        <pc:sldMkLst>
          <pc:docMk/>
          <pc:sldMk cId="2541603940" sldId="296"/>
        </pc:sldMkLst>
        <pc:spChg chg="add mod">
          <ac:chgData name="Riccardo Berta" userId="c8694f89-bba4-4576-b0a8-456619ca5a8c" providerId="ADAL" clId="{FDDBFC5A-5EA9-5330-BEB8-433D7E3B4C4E}" dt="2025-11-18T17:13:25.652" v="256" actId="1076"/>
          <ac:spMkLst>
            <pc:docMk/>
            <pc:sldMk cId="2541603940" sldId="296"/>
            <ac:spMk id="10" creationId="{4F7C11AA-ADDC-4C9E-3F91-2E7A3ED6AEC1}"/>
          </ac:spMkLst>
        </pc:spChg>
        <pc:spChg chg="mod">
          <ac:chgData name="Riccardo Berta" userId="c8694f89-bba4-4576-b0a8-456619ca5a8c" providerId="ADAL" clId="{FDDBFC5A-5EA9-5330-BEB8-433D7E3B4C4E}" dt="2025-11-18T17:12:15.456" v="241" actId="20577"/>
          <ac:spMkLst>
            <pc:docMk/>
            <pc:sldMk cId="2541603940" sldId="296"/>
            <ac:spMk id="83" creationId="{A7D2CE65-CD63-17EB-D935-879C1A28A066}"/>
          </ac:spMkLst>
        </pc:spChg>
        <pc:picChg chg="add mod">
          <ac:chgData name="Riccardo Berta" userId="c8694f89-bba4-4576-b0a8-456619ca5a8c" providerId="ADAL" clId="{FDDBFC5A-5EA9-5330-BEB8-433D7E3B4C4E}" dt="2025-11-18T17:11:59.548" v="232" actId="1076"/>
          <ac:picMkLst>
            <pc:docMk/>
            <pc:sldMk cId="2541603940" sldId="296"/>
            <ac:picMk id="7" creationId="{29288F35-0273-A406-749E-5681B22A6E7E}"/>
          </ac:picMkLst>
        </pc:picChg>
        <pc:picChg chg="add mod">
          <ac:chgData name="Riccardo Berta" userId="c8694f89-bba4-4576-b0a8-456619ca5a8c" providerId="ADAL" clId="{FDDBFC5A-5EA9-5330-BEB8-433D7E3B4C4E}" dt="2025-11-18T17:12:11.924" v="236" actId="1076"/>
          <ac:picMkLst>
            <pc:docMk/>
            <pc:sldMk cId="2541603940" sldId="296"/>
            <ac:picMk id="9" creationId="{E327884D-AC10-7673-D48D-7A32CFA2A0D5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13:34.306" v="258" actId="1076"/>
        <pc:sldMkLst>
          <pc:docMk/>
          <pc:sldMk cId="3563243448" sldId="297"/>
        </pc:sldMkLst>
        <pc:spChg chg="add mod">
          <ac:chgData name="Riccardo Berta" userId="c8694f89-bba4-4576-b0a8-456619ca5a8c" providerId="ADAL" clId="{FDDBFC5A-5EA9-5330-BEB8-433D7E3B4C4E}" dt="2025-11-18T17:13:34.306" v="258" actId="1076"/>
          <ac:spMkLst>
            <pc:docMk/>
            <pc:sldMk cId="3563243448" sldId="297"/>
            <ac:spMk id="9" creationId="{D68AFDDF-D3F5-1836-9388-6DFA0096DF23}"/>
          </ac:spMkLst>
        </pc:spChg>
        <pc:picChg chg="add mod">
          <ac:chgData name="Riccardo Berta" userId="c8694f89-bba4-4576-b0a8-456619ca5a8c" providerId="ADAL" clId="{FDDBFC5A-5EA9-5330-BEB8-433D7E3B4C4E}" dt="2025-11-18T17:12:45.580" v="249" actId="1076"/>
          <ac:picMkLst>
            <pc:docMk/>
            <pc:sldMk cId="3563243448" sldId="297"/>
            <ac:picMk id="6" creationId="{088DE302-283A-C996-A106-2AE1BAF68157}"/>
          </ac:picMkLst>
        </pc:picChg>
        <pc:picChg chg="add mod">
          <ac:chgData name="Riccardo Berta" userId="c8694f89-bba4-4576-b0a8-456619ca5a8c" providerId="ADAL" clId="{FDDBFC5A-5EA9-5330-BEB8-433D7E3B4C4E}" dt="2025-11-18T17:13:00.334" v="253" actId="1076"/>
          <ac:picMkLst>
            <pc:docMk/>
            <pc:sldMk cId="3563243448" sldId="297"/>
            <ac:picMk id="8" creationId="{8D12AD2A-7444-B150-F34B-B03216771453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15:25.759" v="284" actId="14100"/>
        <pc:sldMkLst>
          <pc:docMk/>
          <pc:sldMk cId="3935262357" sldId="298"/>
        </pc:sldMkLst>
        <pc:spChg chg="mod">
          <ac:chgData name="Riccardo Berta" userId="c8694f89-bba4-4576-b0a8-456619ca5a8c" providerId="ADAL" clId="{FDDBFC5A-5EA9-5330-BEB8-433D7E3B4C4E}" dt="2025-11-18T17:14:17.676" v="268" actId="20577"/>
          <ac:spMkLst>
            <pc:docMk/>
            <pc:sldMk cId="3935262357" sldId="298"/>
            <ac:spMk id="83" creationId="{DE633610-A008-930B-34F2-60E9914ECC63}"/>
          </ac:spMkLst>
        </pc:spChg>
        <pc:picChg chg="add mod">
          <ac:chgData name="Riccardo Berta" userId="c8694f89-bba4-4576-b0a8-456619ca5a8c" providerId="ADAL" clId="{FDDBFC5A-5EA9-5330-BEB8-433D7E3B4C4E}" dt="2025-11-18T17:15:22.242" v="282" actId="14100"/>
          <ac:picMkLst>
            <pc:docMk/>
            <pc:sldMk cId="3935262357" sldId="298"/>
            <ac:picMk id="4" creationId="{385A5031-B1BF-5BF5-07D5-F21E27787863}"/>
          </ac:picMkLst>
        </pc:picChg>
        <pc:picChg chg="add mod">
          <ac:chgData name="Riccardo Berta" userId="c8694f89-bba4-4576-b0a8-456619ca5a8c" providerId="ADAL" clId="{FDDBFC5A-5EA9-5330-BEB8-433D7E3B4C4E}" dt="2025-11-18T17:15:25.759" v="284" actId="14100"/>
          <ac:picMkLst>
            <pc:docMk/>
            <pc:sldMk cId="3935262357" sldId="298"/>
            <ac:picMk id="6" creationId="{AD9D663F-AB56-AC32-D1BB-F0F89ED4CD91}"/>
          </ac:picMkLst>
        </pc:picChg>
      </pc:sldChg>
      <pc:sldChg chg="addSp delSp modSp add mod">
        <pc:chgData name="Riccardo Berta" userId="c8694f89-bba4-4576-b0a8-456619ca5a8c" providerId="ADAL" clId="{FDDBFC5A-5EA9-5330-BEB8-433D7E3B4C4E}" dt="2025-11-18T17:43:53.984" v="312" actId="1076"/>
        <pc:sldMkLst>
          <pc:docMk/>
          <pc:sldMk cId="2331886113" sldId="299"/>
        </pc:sldMkLst>
        <pc:spChg chg="mod">
          <ac:chgData name="Riccardo Berta" userId="c8694f89-bba4-4576-b0a8-456619ca5a8c" providerId="ADAL" clId="{FDDBFC5A-5EA9-5330-BEB8-433D7E3B4C4E}" dt="2025-11-18T17:43:31.082" v="301" actId="20577"/>
          <ac:spMkLst>
            <pc:docMk/>
            <pc:sldMk cId="2331886113" sldId="299"/>
            <ac:spMk id="83" creationId="{11C4B08B-14EC-3C13-58E1-F01AC38B7F72}"/>
          </ac:spMkLst>
        </pc:spChg>
        <pc:picChg chg="add mod">
          <ac:chgData name="Riccardo Berta" userId="c8694f89-bba4-4576-b0a8-456619ca5a8c" providerId="ADAL" clId="{FDDBFC5A-5EA9-5330-BEB8-433D7E3B4C4E}" dt="2025-11-18T17:43:53.984" v="312" actId="1076"/>
          <ac:picMkLst>
            <pc:docMk/>
            <pc:sldMk cId="2331886113" sldId="299"/>
            <ac:picMk id="6" creationId="{5D47DF3F-5466-7063-3E6E-3998A925C4D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5296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6599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6763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545769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90270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4441517-D3F3-1524-DA62-11C83F6D7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2F99FE2-F757-4F93-9E51-D718BD420B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C7B09BD-5062-C322-7216-4C64E0279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52492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39719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8F6C914-27A1-EBB0-6ED6-A5E772983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5556120-B49F-10BD-8FB6-53D374E6D5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9B0AFE12-59A2-81A0-4419-E05A96E6BD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773188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55639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970609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5E8C055B-FB0B-0589-E3FE-28F7F7E9F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2D8F710C-9509-00E1-B6E9-837F492B69E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42B6CC0B-67FF-829A-089F-2FADCE7167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66039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716052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40454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973FB6B8-676C-2476-0351-A13746AD9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3981BF3E-A60C-7015-18E5-6D9E95BA90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A94F2963-17FB-E7E0-2604-4098118528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8585427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21688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A1035A60-64AC-2A97-CB8D-E51DF3636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62B41ABD-200B-5384-8366-99DE37E6C9A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0CD5F945-60EF-165B-9641-B107B65D9D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81737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6777793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213648F4-1771-E95F-6303-4802A2ECD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56F01558-597C-E18B-CE91-F410081BED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357EC3C-AE42-18AF-8474-A82ADF832E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84219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068912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327595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85980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68887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79599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C8EBCF48-DD65-B2DE-9AB0-E171CE393E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049D1C5F-3AEA-63EC-BAA9-9884C79557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5E5E544C-6D7D-ADA3-54FC-D0E731E9C1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32215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9918455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8160761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24576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4945458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>
          <a:extLst>
            <a:ext uri="{FF2B5EF4-FFF2-40B4-BE49-F238E27FC236}">
              <a16:creationId xmlns:a16="http://schemas.microsoft.com/office/drawing/2014/main" id="{2F45BFBA-B66F-D730-08CC-4C3A12605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>
            <a:extLst>
              <a:ext uri="{FF2B5EF4-FFF2-40B4-BE49-F238E27FC236}">
                <a16:creationId xmlns:a16="http://schemas.microsoft.com/office/drawing/2014/main" id="{BBFE8C3C-C82E-D1A6-9F11-15AB7FACF1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>
            <a:extLst>
              <a:ext uri="{FF2B5EF4-FFF2-40B4-BE49-F238E27FC236}">
                <a16:creationId xmlns:a16="http://schemas.microsoft.com/office/drawing/2014/main" id="{2A7D9461-B872-C530-EEFB-65701A8A8B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005280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eed6aedb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eed6aedb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0190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userDrawn="1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500"/>
              <a:buChar char="○"/>
              <a:defRPr sz="1500"/>
            </a:lvl2pPr>
            <a:lvl3pPr marL="1371600" lvl="2" indent="-31750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 lang="it-IT" dirty="0"/>
          </a:p>
          <a:p>
            <a:pPr lvl="2"/>
            <a:endParaRPr dirty="0"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60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it-IT" dirty="0" err="1"/>
              <a:t>Sequential</a:t>
            </a:r>
            <a:r>
              <a:rPr lang="it-IT" dirty="0"/>
              <a:t> </a:t>
            </a:r>
            <a:r>
              <a:rPr lang="it-IT"/>
              <a:t>Circuits</a:t>
            </a:r>
            <a:endParaRPr lang="en-GB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268BF7-2F3B-A5C4-4F7E-1982399FCE6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</p:spPr>
        <p:txBody>
          <a:bodyPr/>
          <a:lstStyle/>
          <a:p>
            <a:r>
              <a:rPr lang="en-GB" dirty="0"/>
              <a:t>Index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8BFAA1C-1163-169B-2D77-6FEF73CC85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1190689"/>
            <a:ext cx="8195486" cy="5246078"/>
          </a:xfrm>
        </p:spPr>
        <p:txBody>
          <a:bodyPr/>
          <a:lstStyle/>
          <a:p>
            <a:r>
              <a:rPr lang="en-GB" dirty="0"/>
              <a:t>Sequential Logic</a:t>
            </a:r>
          </a:p>
          <a:p>
            <a:r>
              <a:rPr lang="en-GB" dirty="0"/>
              <a:t>Bistable element</a:t>
            </a:r>
          </a:p>
          <a:p>
            <a:r>
              <a:rPr lang="en-GB" dirty="0"/>
              <a:t>Latches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SR Latch</a:t>
            </a:r>
          </a:p>
          <a:p>
            <a:pPr lvl="1">
              <a:spcBef>
                <a:spcPts val="0"/>
              </a:spcBef>
            </a:pPr>
            <a:r>
              <a:rPr lang="en-GB" dirty="0"/>
              <a:t>D Latch</a:t>
            </a:r>
          </a:p>
          <a:p>
            <a:r>
              <a:rPr lang="en-GB" dirty="0"/>
              <a:t>Flip-Flops</a:t>
            </a:r>
          </a:p>
          <a:p>
            <a:pPr lvl="1">
              <a:spcBef>
                <a:spcPts val="0"/>
              </a:spcBef>
            </a:pPr>
            <a:r>
              <a:rPr lang="en-GB" dirty="0"/>
              <a:t>D Flip-Flop</a:t>
            </a:r>
          </a:p>
          <a:p>
            <a:pPr lvl="1">
              <a:spcBef>
                <a:spcPts val="0"/>
              </a:spcBef>
            </a:pPr>
            <a:r>
              <a:rPr lang="en-GB" dirty="0"/>
              <a:t>Register</a:t>
            </a:r>
          </a:p>
          <a:p>
            <a:pPr lvl="1">
              <a:spcBef>
                <a:spcPts val="0"/>
              </a:spcBef>
            </a:pPr>
            <a:r>
              <a:rPr lang="en-GB" dirty="0"/>
              <a:t>Enabled Flip-Flop</a:t>
            </a:r>
          </a:p>
          <a:p>
            <a:pPr lvl="1">
              <a:spcBef>
                <a:spcPts val="0"/>
              </a:spcBef>
            </a:pPr>
            <a:r>
              <a:rPr lang="en-GB" dirty="0"/>
              <a:t>Resettable Flip-Flop</a:t>
            </a:r>
          </a:p>
          <a:p>
            <a:r>
              <a:rPr lang="en-GB" dirty="0"/>
              <a:t>Transistor-Level Design</a:t>
            </a:r>
          </a:p>
          <a:p>
            <a:r>
              <a:rPr lang="en-GB" dirty="0"/>
              <a:t>Problematic circuits</a:t>
            </a:r>
          </a:p>
          <a:p>
            <a:pPr lvl="1">
              <a:spcBef>
                <a:spcPts val="0"/>
              </a:spcBef>
            </a:pPr>
            <a:r>
              <a:rPr lang="en-GB" dirty="0"/>
              <a:t>Astable circuits</a:t>
            </a:r>
          </a:p>
          <a:p>
            <a:pPr lvl="1">
              <a:spcBef>
                <a:spcPts val="0"/>
              </a:spcBef>
            </a:pPr>
            <a:r>
              <a:rPr lang="en-GB" dirty="0"/>
              <a:t>Race Condition</a:t>
            </a:r>
          </a:p>
          <a:p>
            <a:pPr lvl="1">
              <a:spcBef>
                <a:spcPts val="0"/>
              </a:spcBef>
            </a:pPr>
            <a:r>
              <a:rPr lang="en-GB" dirty="0"/>
              <a:t>Asynchronous circuits</a:t>
            </a:r>
          </a:p>
          <a:p>
            <a:r>
              <a:rPr lang="en-GB" dirty="0"/>
              <a:t>Synchronous circuits </a:t>
            </a:r>
          </a:p>
          <a:p>
            <a:pPr marL="12065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8556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Sequential Logic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output of </a:t>
            </a:r>
            <a:r>
              <a:rPr lang="en-GB" b="1" dirty="0"/>
              <a:t>combinational logic</a:t>
            </a:r>
            <a:r>
              <a:rPr lang="en-GB" dirty="0"/>
              <a:t> depends only on </a:t>
            </a:r>
            <a:r>
              <a:rPr lang="en-GB" b="1" dirty="0"/>
              <a:t>current input </a:t>
            </a:r>
            <a:r>
              <a:rPr lang="en-GB" dirty="0"/>
              <a:t>values</a:t>
            </a:r>
          </a:p>
          <a:p>
            <a:pPr lvl="1"/>
            <a:r>
              <a:rPr lang="en-GB" dirty="0"/>
              <a:t>given a specification in the form of a truth table or boolean equation, we can create an optimized circuit to meet the specification</a:t>
            </a:r>
          </a:p>
          <a:p>
            <a:pPr lvl="0"/>
            <a:endParaRPr lang="en-GB" sz="1000" dirty="0"/>
          </a:p>
          <a:p>
            <a:pPr lvl="0"/>
            <a:r>
              <a:rPr lang="en-GB" dirty="0"/>
              <a:t>The outputs of </a:t>
            </a:r>
            <a:r>
              <a:rPr lang="en-GB" b="1" dirty="0"/>
              <a:t>sequential logic</a:t>
            </a:r>
            <a:r>
              <a:rPr lang="en-GB" dirty="0"/>
              <a:t> depend on both </a:t>
            </a:r>
            <a:r>
              <a:rPr lang="en-GB" b="1" dirty="0"/>
              <a:t>current and prior input </a:t>
            </a:r>
            <a:r>
              <a:rPr lang="en-GB" dirty="0"/>
              <a:t>values </a:t>
            </a:r>
          </a:p>
          <a:p>
            <a:pPr lvl="1"/>
            <a:r>
              <a:rPr lang="en-GB" dirty="0"/>
              <a:t>has </a:t>
            </a:r>
            <a:r>
              <a:rPr lang="en-GB" b="1" dirty="0"/>
              <a:t>memory</a:t>
            </a:r>
          </a:p>
          <a:p>
            <a:pPr lvl="1"/>
            <a:r>
              <a:rPr lang="en-GB" dirty="0"/>
              <a:t>explicitly remember previous inputs </a:t>
            </a:r>
          </a:p>
          <a:p>
            <a:pPr lvl="1"/>
            <a:r>
              <a:rPr lang="en-GB" dirty="0"/>
              <a:t>or it might </a:t>
            </a:r>
            <a:r>
              <a:rPr lang="en-GB" b="1" dirty="0"/>
              <a:t>distil the prior inputs into a smaller amount of information</a:t>
            </a:r>
            <a:r>
              <a:rPr lang="en-GB" dirty="0"/>
              <a:t> called the </a:t>
            </a:r>
            <a:r>
              <a:rPr lang="en-GB" b="1" dirty="0"/>
              <a:t>state of the system</a:t>
            </a:r>
          </a:p>
          <a:p>
            <a:pPr lvl="2"/>
            <a:r>
              <a:rPr lang="en-GB" dirty="0"/>
              <a:t>a set of bits (</a:t>
            </a:r>
            <a:r>
              <a:rPr lang="en-GB" b="1" dirty="0"/>
              <a:t>state variables</a:t>
            </a:r>
            <a:r>
              <a:rPr lang="en-GB" dirty="0"/>
              <a:t>) that contain all the information about the past necessary to explain the future behaviour of the circuit</a:t>
            </a:r>
          </a:p>
          <a:p>
            <a:pPr lvl="1"/>
            <a:r>
              <a:rPr lang="en-GB" b="1" dirty="0"/>
              <a:t>latches</a:t>
            </a:r>
            <a:r>
              <a:rPr lang="en-GB" dirty="0"/>
              <a:t> and </a:t>
            </a:r>
            <a:r>
              <a:rPr lang="en-GB" b="1" dirty="0"/>
              <a:t>flip-flops</a:t>
            </a:r>
            <a:r>
              <a:rPr lang="en-GB" dirty="0"/>
              <a:t> are simple sequential circuits that store </a:t>
            </a:r>
            <a:r>
              <a:rPr lang="en-GB" b="1" dirty="0"/>
              <a:t>one bit of state</a:t>
            </a:r>
          </a:p>
          <a:p>
            <a:pPr lvl="0"/>
            <a:endParaRPr lang="en-GB" sz="1000" dirty="0"/>
          </a:p>
          <a:p>
            <a:pPr lvl="0"/>
            <a:r>
              <a:rPr lang="en-GB" dirty="0"/>
              <a:t>Sequential circuits are </a:t>
            </a:r>
            <a:r>
              <a:rPr lang="en-GB" b="1" dirty="0"/>
              <a:t>complicated to analyse</a:t>
            </a:r>
          </a:p>
          <a:p>
            <a:pPr lvl="1"/>
            <a:r>
              <a:rPr lang="en-GB" dirty="0"/>
              <a:t>we can discipline ourselves to build only </a:t>
            </a:r>
            <a:r>
              <a:rPr lang="en-GB" b="1" dirty="0"/>
              <a:t>synchronous</a:t>
            </a:r>
            <a:r>
              <a:rPr lang="en-GB" dirty="0"/>
              <a:t> sequential circuits </a:t>
            </a:r>
          </a:p>
          <a:p>
            <a:pPr lvl="1"/>
            <a:r>
              <a:rPr lang="en-GB" dirty="0"/>
              <a:t>combinational logic and banks of flip-flops containing the state of the circuit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Bistable element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11952"/>
            <a:ext cx="8818500" cy="54168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fundamental building block of </a:t>
            </a:r>
            <a:r>
              <a:rPr lang="en-GB" b="1" dirty="0"/>
              <a:t>memory</a:t>
            </a:r>
            <a:r>
              <a:rPr lang="en-GB" dirty="0"/>
              <a:t>: an element </a:t>
            </a:r>
            <a:r>
              <a:rPr lang="en-GB" b="1" dirty="0"/>
              <a:t>with two stable states</a:t>
            </a:r>
          </a:p>
          <a:p>
            <a:pPr lvl="1"/>
            <a:r>
              <a:rPr lang="en-GB" dirty="0"/>
              <a:t>The inverters are cross-coupled</a:t>
            </a:r>
          </a:p>
          <a:p>
            <a:pPr lvl="2"/>
            <a:r>
              <a:rPr lang="en-GB" dirty="0"/>
              <a:t>the input of I1 is the output of I2 and vice versa</a:t>
            </a:r>
          </a:p>
          <a:p>
            <a:pPr lvl="2"/>
            <a:r>
              <a:rPr lang="en-GB" dirty="0"/>
              <a:t>the circuit has no inputs, but it does have two outputs</a:t>
            </a:r>
          </a:p>
          <a:p>
            <a:r>
              <a:rPr lang="en-GB" dirty="0"/>
              <a:t>This circuit is </a:t>
            </a:r>
            <a:r>
              <a:rPr lang="en-GB" b="1" dirty="0"/>
              <a:t>cyclic</a:t>
            </a:r>
          </a:p>
          <a:p>
            <a:pPr lvl="1"/>
            <a:r>
              <a:rPr lang="en-GB" dirty="0"/>
              <a:t>Case 1: Q = 0</a:t>
            </a:r>
          </a:p>
          <a:p>
            <a:pPr lvl="2"/>
            <a:r>
              <a:rPr lang="en-GB" dirty="0"/>
              <a:t>I2 receives a FALSE input, so it produces a TRUE output on Q</a:t>
            </a:r>
            <a:endParaRPr lang="en-GB" u="sng" dirty="0"/>
          </a:p>
          <a:p>
            <a:pPr lvl="2"/>
            <a:r>
              <a:rPr lang="en-GB" dirty="0"/>
              <a:t>I1 receives a TRUE input, so it produces a FALSE output on Q</a:t>
            </a:r>
          </a:p>
          <a:p>
            <a:pPr lvl="2"/>
            <a:r>
              <a:rPr lang="en-GB" dirty="0"/>
              <a:t>this is consistent with the original assumption (Q = 0), so it is </a:t>
            </a:r>
            <a:r>
              <a:rPr lang="en-GB" b="1" dirty="0"/>
              <a:t>stable</a:t>
            </a:r>
          </a:p>
          <a:p>
            <a:pPr lvl="1"/>
            <a:r>
              <a:rPr lang="en-GB" dirty="0"/>
              <a:t>Case 2: Q = 1</a:t>
            </a:r>
          </a:p>
          <a:p>
            <a:pPr lvl="2"/>
            <a:r>
              <a:rPr lang="en-GB" dirty="0"/>
              <a:t>I2 receives a TRUE input and produces a FALSE output on Q</a:t>
            </a:r>
            <a:endParaRPr lang="en-GB" u="sng" dirty="0"/>
          </a:p>
          <a:p>
            <a:pPr lvl="2"/>
            <a:r>
              <a:rPr lang="en-GB" dirty="0"/>
              <a:t>I1 receives a FALSE input and produces a TRUE output on Q</a:t>
            </a:r>
          </a:p>
          <a:p>
            <a:pPr lvl="2"/>
            <a:r>
              <a:rPr lang="en-GB" dirty="0"/>
              <a:t>this is again stable</a:t>
            </a:r>
          </a:p>
          <a:p>
            <a:r>
              <a:rPr lang="en-GB" dirty="0"/>
              <a:t>Because the cross-coupled inverters have </a:t>
            </a:r>
            <a:r>
              <a:rPr lang="en-GB" b="1" dirty="0"/>
              <a:t>two stable states</a:t>
            </a:r>
            <a:r>
              <a:rPr lang="en-GB" dirty="0"/>
              <a:t>, the circuit is said to be </a:t>
            </a:r>
            <a:r>
              <a:rPr lang="en-GB" b="1" dirty="0"/>
              <a:t>bistable</a:t>
            </a:r>
          </a:p>
        </p:txBody>
      </p:sp>
      <p:pic>
        <p:nvPicPr>
          <p:cNvPr id="4" name="Immagine 3" descr="Immagine che contiene schizzo, linea, disegno, bianco&#10;&#10;Descrizione generata automaticamente">
            <a:extLst>
              <a:ext uri="{FF2B5EF4-FFF2-40B4-BE49-F238E27FC236}">
                <a16:creationId xmlns:a16="http://schemas.microsoft.com/office/drawing/2014/main" id="{0688DA6D-E76A-3CB2-5AB8-B08B6E97D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313" y="1699078"/>
            <a:ext cx="1905907" cy="907089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5A3C384B-2C5A-CE79-43C8-25F77B446B14}"/>
              </a:ext>
            </a:extLst>
          </p:cNvPr>
          <p:cNvCxnSpPr>
            <a:cxnSpLocks/>
          </p:cNvCxnSpPr>
          <p:nvPr/>
        </p:nvCxnSpPr>
        <p:spPr>
          <a:xfrm>
            <a:off x="6490064" y="3359332"/>
            <a:ext cx="870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8">
            <a:extLst>
              <a:ext uri="{FF2B5EF4-FFF2-40B4-BE49-F238E27FC236}">
                <a16:creationId xmlns:a16="http://schemas.microsoft.com/office/drawing/2014/main" id="{B739D6E2-EADF-B561-054C-DFA5F579DCE2}"/>
              </a:ext>
            </a:extLst>
          </p:cNvPr>
          <p:cNvCxnSpPr>
            <a:cxnSpLocks/>
          </p:cNvCxnSpPr>
          <p:nvPr/>
        </p:nvCxnSpPr>
        <p:spPr>
          <a:xfrm>
            <a:off x="6414246" y="4856487"/>
            <a:ext cx="8708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9712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Bistable element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 element with N stable states conveys log</a:t>
            </a:r>
            <a:r>
              <a:rPr lang="en-GB" baseline="-25000" dirty="0"/>
              <a:t>2</a:t>
            </a:r>
            <a:r>
              <a:rPr lang="en-GB" dirty="0"/>
              <a:t>N bits of information, so a bistable element stores </a:t>
            </a:r>
            <a:r>
              <a:rPr lang="en-GB" b="1" dirty="0"/>
              <a:t>one bit</a:t>
            </a:r>
            <a:endParaRPr lang="en-GB" dirty="0"/>
          </a:p>
          <a:p>
            <a:pPr lvl="1"/>
            <a:r>
              <a:rPr lang="en-GB" dirty="0"/>
              <a:t>state of the cross-coupled inverters is contained in one binary state variable (Q)</a:t>
            </a:r>
            <a:endParaRPr lang="en-GB" u="sng" dirty="0"/>
          </a:p>
          <a:p>
            <a:pPr lvl="1"/>
            <a:r>
              <a:rPr lang="en-GB" dirty="0"/>
              <a:t>the value of Q tells us everything about the past that is necessary to explain the future behaviour of the circuit</a:t>
            </a:r>
          </a:p>
          <a:p>
            <a:pPr lvl="2"/>
            <a:r>
              <a:rPr lang="en-GB" dirty="0"/>
              <a:t>if Q=0, it will remain 0 forever</a:t>
            </a:r>
          </a:p>
          <a:p>
            <a:pPr lvl="2"/>
            <a:r>
              <a:rPr lang="en-GB" dirty="0"/>
              <a:t>if Q=1, it will remain 1 forever</a:t>
            </a:r>
          </a:p>
          <a:p>
            <a:endParaRPr lang="en-GB" dirty="0"/>
          </a:p>
          <a:p>
            <a:r>
              <a:rPr lang="en-GB" dirty="0"/>
              <a:t>When power is first applied to a sequential circuit, the initial state is </a:t>
            </a:r>
            <a:r>
              <a:rPr lang="en-GB" b="1" dirty="0"/>
              <a:t>unknown</a:t>
            </a:r>
            <a:r>
              <a:rPr lang="en-GB" dirty="0"/>
              <a:t> and usually </a:t>
            </a:r>
            <a:r>
              <a:rPr lang="en-GB" b="1" dirty="0"/>
              <a:t>unpredictable</a:t>
            </a:r>
          </a:p>
          <a:p>
            <a:pPr lvl="1"/>
            <a:r>
              <a:rPr lang="en-GB" dirty="0"/>
              <a:t>it may differ each time the circuit is turned on</a:t>
            </a:r>
          </a:p>
          <a:p>
            <a:endParaRPr lang="en-GB" dirty="0"/>
          </a:p>
          <a:p>
            <a:r>
              <a:rPr lang="en-GB" dirty="0"/>
              <a:t>Although the cross-coupled inverters can store a bit of information, they are not practical because the </a:t>
            </a:r>
            <a:r>
              <a:rPr lang="en-GB" b="1" dirty="0"/>
              <a:t>user has no inputs to control the state</a:t>
            </a:r>
            <a:endParaRPr lang="en-GB" dirty="0"/>
          </a:p>
          <a:p>
            <a:pPr lvl="1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23946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SR Latch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Two cross-coupled NOR gates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r>
              <a:rPr lang="en-GB" dirty="0"/>
              <a:t>Like the cross-coupled inverters, but its </a:t>
            </a:r>
            <a:r>
              <a:rPr lang="en-GB" b="1" dirty="0"/>
              <a:t>state can be controlled </a:t>
            </a:r>
            <a:r>
              <a:rPr lang="en-GB" dirty="0"/>
              <a:t>through the inputs</a:t>
            </a:r>
          </a:p>
          <a:p>
            <a:pPr lvl="1"/>
            <a:r>
              <a:rPr lang="en-GB" dirty="0"/>
              <a:t>set (S) and reset (R) the output</a:t>
            </a:r>
          </a:p>
          <a:p>
            <a:pPr lvl="0"/>
            <a:r>
              <a:rPr lang="en-GB" dirty="0"/>
              <a:t>Case 1: R=1, S=0</a:t>
            </a:r>
          </a:p>
          <a:p>
            <a:pPr lvl="1"/>
            <a:r>
              <a:rPr lang="en-GB" dirty="0"/>
              <a:t>N1 sees at least one TRUE input R, so it produces a FALSE output on Q</a:t>
            </a:r>
          </a:p>
          <a:p>
            <a:pPr lvl="1"/>
            <a:r>
              <a:rPr lang="en-GB" dirty="0"/>
              <a:t>N2 sees both Q and S FALSE, so it produces a TRUE output on Q </a:t>
            </a:r>
          </a:p>
          <a:p>
            <a:pPr lvl="0"/>
            <a:r>
              <a:rPr lang="en-GB" dirty="0"/>
              <a:t>Case 2: R=0, S=1</a:t>
            </a:r>
          </a:p>
          <a:p>
            <a:pPr lvl="1"/>
            <a:r>
              <a:rPr lang="en-GB" dirty="0"/>
              <a:t>N1 receives inputs of 0 and Q, however we don’t yet know Q</a:t>
            </a:r>
          </a:p>
          <a:p>
            <a:pPr lvl="1"/>
            <a:r>
              <a:rPr lang="en-GB" dirty="0"/>
              <a:t>N2 receives at least one TRUE input S, so it produces a FALSE output on Q</a:t>
            </a:r>
            <a:endParaRPr lang="en-GB" u="sng" dirty="0"/>
          </a:p>
          <a:p>
            <a:pPr lvl="1"/>
            <a:r>
              <a:rPr lang="en-GB" dirty="0"/>
              <a:t>Now we can revisit N1, so the output Q is TRUE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schizzo, disegno, diagramma, linea&#10;&#10;Descrizione generata automaticamente">
            <a:extLst>
              <a:ext uri="{FF2B5EF4-FFF2-40B4-BE49-F238E27FC236}">
                <a16:creationId xmlns:a16="http://schemas.microsoft.com/office/drawing/2014/main" id="{0294CADE-7745-6288-1118-9F1C82D7D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6901" y="1212537"/>
            <a:ext cx="2922089" cy="1624518"/>
          </a:xfrm>
          <a:prstGeom prst="rect">
            <a:avLst/>
          </a:prstGeom>
        </p:spPr>
      </p:pic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336487A1-7443-9574-965B-3C6975F94843}"/>
              </a:ext>
            </a:extLst>
          </p:cNvPr>
          <p:cNvCxnSpPr/>
          <p:nvPr/>
        </p:nvCxnSpPr>
        <p:spPr>
          <a:xfrm>
            <a:off x="6653349" y="451974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4B1D232C-B737-CF96-9ACA-E84AB99C14CA}"/>
              </a:ext>
            </a:extLst>
          </p:cNvPr>
          <p:cNvCxnSpPr/>
          <p:nvPr/>
        </p:nvCxnSpPr>
        <p:spPr>
          <a:xfrm>
            <a:off x="6344196" y="5194665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F7EFBA51-789B-10AA-E9D1-279A69363ACB}"/>
              </a:ext>
            </a:extLst>
          </p:cNvPr>
          <p:cNvCxnSpPr/>
          <p:nvPr/>
        </p:nvCxnSpPr>
        <p:spPr>
          <a:xfrm>
            <a:off x="7528559" y="5569131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ttore 1 2">
            <a:extLst>
              <a:ext uri="{FF2B5EF4-FFF2-40B4-BE49-F238E27FC236}">
                <a16:creationId xmlns:a16="http://schemas.microsoft.com/office/drawing/2014/main" id="{856E721F-70A2-D66B-B12A-A016553A0E63}"/>
              </a:ext>
            </a:extLst>
          </p:cNvPr>
          <p:cNvCxnSpPr/>
          <p:nvPr/>
        </p:nvCxnSpPr>
        <p:spPr>
          <a:xfrm>
            <a:off x="3639096" y="5175615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7696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SR Latch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4202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Case 3: R=1, S=1</a:t>
            </a:r>
          </a:p>
          <a:p>
            <a:pPr lvl="1"/>
            <a:r>
              <a:rPr lang="en-GB" dirty="0"/>
              <a:t>N1 and N2 both see at least one TRUE input, so each produces a FALSE output</a:t>
            </a:r>
          </a:p>
          <a:p>
            <a:pPr lvl="0"/>
            <a:r>
              <a:rPr lang="en-GB" dirty="0"/>
              <a:t>Case 4: R=0, S=0</a:t>
            </a:r>
          </a:p>
          <a:p>
            <a:pPr lvl="1"/>
            <a:r>
              <a:rPr lang="en-GB" dirty="0"/>
              <a:t>N1 receives inputs of 0 and Q, however we don’t yet know Q </a:t>
            </a:r>
            <a:endParaRPr lang="en-GB" u="sng" dirty="0"/>
          </a:p>
          <a:p>
            <a:pPr lvl="1"/>
            <a:r>
              <a:rPr lang="en-GB" dirty="0"/>
              <a:t>N2 receives inputs of 0 and Q. however we don’t yet know Q</a:t>
            </a:r>
          </a:p>
          <a:p>
            <a:pPr lvl="1"/>
            <a:r>
              <a:rPr lang="en-GB" dirty="0"/>
              <a:t>now we are stuck, but we know that Q must either be 0 or 1</a:t>
            </a:r>
          </a:p>
          <a:p>
            <a:pPr lvl="1"/>
            <a:r>
              <a:rPr lang="en-GB" dirty="0"/>
              <a:t>Case 4a: Q=0</a:t>
            </a:r>
          </a:p>
          <a:p>
            <a:pPr lvl="2"/>
            <a:r>
              <a:rPr lang="en-GB" dirty="0"/>
              <a:t>N2 produces a TRUE output on Q</a:t>
            </a:r>
          </a:p>
          <a:p>
            <a:pPr lvl="2"/>
            <a:r>
              <a:rPr lang="en-GB" dirty="0"/>
              <a:t>N1 receives one TRUE input (Q</a:t>
            </a:r>
            <a:r>
              <a:rPr lang="en-GB" u="sng" dirty="0"/>
              <a:t>)</a:t>
            </a:r>
            <a:r>
              <a:rPr lang="en-GB" dirty="0"/>
              <a:t>, so its output is FALSE, just as we had assumed</a:t>
            </a:r>
          </a:p>
          <a:p>
            <a:pPr lvl="1"/>
            <a:r>
              <a:rPr lang="en-GB" dirty="0"/>
              <a:t>Case 4b: Q=1</a:t>
            </a:r>
          </a:p>
          <a:p>
            <a:pPr lvl="2"/>
            <a:r>
              <a:rPr lang="en-GB" dirty="0"/>
              <a:t>N2 produces a FALSE output on Q</a:t>
            </a:r>
            <a:endParaRPr lang="en-GB" u="sng" dirty="0"/>
          </a:p>
          <a:p>
            <a:pPr lvl="2"/>
            <a:r>
              <a:rPr lang="en-GB" dirty="0"/>
              <a:t>N1 receives two FALSE inputs, so its output is TRUE, just as we had assumed</a:t>
            </a:r>
          </a:p>
          <a:p>
            <a:pPr lvl="1"/>
            <a:r>
              <a:rPr lang="en-GB" dirty="0"/>
              <a:t>Putting this all together: when R and S are 0, Q will </a:t>
            </a:r>
            <a:r>
              <a:rPr lang="en-GB" b="1" dirty="0"/>
              <a:t>remember</a:t>
            </a:r>
            <a:r>
              <a:rPr lang="en-GB" dirty="0"/>
              <a:t> the old value</a:t>
            </a:r>
          </a:p>
          <a:p>
            <a:pPr lvl="2"/>
            <a:r>
              <a:rPr lang="en-GB" dirty="0"/>
              <a:t>this circuit has </a:t>
            </a:r>
            <a:r>
              <a:rPr lang="en-GB" b="1" dirty="0"/>
              <a:t>memory</a:t>
            </a:r>
          </a:p>
        </p:txBody>
      </p:sp>
      <p:pic>
        <p:nvPicPr>
          <p:cNvPr id="2" name="Immagine 1" descr="Immagine che contiene schizzo, disegno, diagramma, linea&#10;&#10;Descrizione generata automaticamente">
            <a:extLst>
              <a:ext uri="{FF2B5EF4-FFF2-40B4-BE49-F238E27FC236}">
                <a16:creationId xmlns:a16="http://schemas.microsoft.com/office/drawing/2014/main" id="{D671268B-7666-F2D2-40C1-D370FEAE1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910" y="231476"/>
            <a:ext cx="2051230" cy="1140369"/>
          </a:xfrm>
          <a:prstGeom prst="rect">
            <a:avLst/>
          </a:prstGeom>
        </p:spPr>
      </p:pic>
      <p:cxnSp>
        <p:nvCxnSpPr>
          <p:cNvPr id="3" name="Connettore 1 2">
            <a:extLst>
              <a:ext uri="{FF2B5EF4-FFF2-40B4-BE49-F238E27FC236}">
                <a16:creationId xmlns:a16="http://schemas.microsoft.com/office/drawing/2014/main" id="{F4EE8666-4B1D-B539-180D-FC05F6396090}"/>
              </a:ext>
            </a:extLst>
          </p:cNvPr>
          <p:cNvCxnSpPr/>
          <p:nvPr/>
        </p:nvCxnSpPr>
        <p:spPr>
          <a:xfrm>
            <a:off x="3635829" y="234804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Connettore 1 3">
            <a:extLst>
              <a:ext uri="{FF2B5EF4-FFF2-40B4-BE49-F238E27FC236}">
                <a16:creationId xmlns:a16="http://schemas.microsoft.com/office/drawing/2014/main" id="{7AF2D528-FD89-DB39-6370-6BE5217DC643}"/>
              </a:ext>
            </a:extLst>
          </p:cNvPr>
          <p:cNvCxnSpPr/>
          <p:nvPr/>
        </p:nvCxnSpPr>
        <p:spPr>
          <a:xfrm>
            <a:off x="6337119" y="234042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nettore 1 5">
            <a:extLst>
              <a:ext uri="{FF2B5EF4-FFF2-40B4-BE49-F238E27FC236}">
                <a16:creationId xmlns:a16="http://schemas.microsoft.com/office/drawing/2014/main" id="{B76C23BB-E85F-89F5-4AC4-446141A1F714}"/>
              </a:ext>
            </a:extLst>
          </p:cNvPr>
          <p:cNvCxnSpPr/>
          <p:nvPr/>
        </p:nvCxnSpPr>
        <p:spPr>
          <a:xfrm>
            <a:off x="4245429" y="387204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1 6">
            <a:extLst>
              <a:ext uri="{FF2B5EF4-FFF2-40B4-BE49-F238E27FC236}">
                <a16:creationId xmlns:a16="http://schemas.microsoft.com/office/drawing/2014/main" id="{034D3383-7CE7-6CE0-3C46-132E44CC3D94}"/>
              </a:ext>
            </a:extLst>
          </p:cNvPr>
          <p:cNvCxnSpPr/>
          <p:nvPr/>
        </p:nvCxnSpPr>
        <p:spPr>
          <a:xfrm>
            <a:off x="4016829" y="421494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1 7">
            <a:extLst>
              <a:ext uri="{FF2B5EF4-FFF2-40B4-BE49-F238E27FC236}">
                <a16:creationId xmlns:a16="http://schemas.microsoft.com/office/drawing/2014/main" id="{E7496EFD-114A-9409-C8C8-7FEF501824EC}"/>
              </a:ext>
            </a:extLst>
          </p:cNvPr>
          <p:cNvCxnSpPr/>
          <p:nvPr/>
        </p:nvCxnSpPr>
        <p:spPr>
          <a:xfrm>
            <a:off x="4302579" y="496932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1 8">
            <a:extLst>
              <a:ext uri="{FF2B5EF4-FFF2-40B4-BE49-F238E27FC236}">
                <a16:creationId xmlns:a16="http://schemas.microsoft.com/office/drawing/2014/main" id="{86C9A296-FFF9-4F18-ADDB-35D549D0E8A2}"/>
              </a:ext>
            </a:extLst>
          </p:cNvPr>
          <p:cNvCxnSpPr/>
          <p:nvPr/>
        </p:nvCxnSpPr>
        <p:spPr>
          <a:xfrm>
            <a:off x="3788229" y="250044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842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SR Latch (3)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truth table summarizes these four cases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The inputs S and R stand for </a:t>
            </a:r>
            <a:r>
              <a:rPr lang="en-GB" b="1" dirty="0"/>
              <a:t>Set</a:t>
            </a:r>
            <a:r>
              <a:rPr lang="en-GB" dirty="0"/>
              <a:t> and </a:t>
            </a:r>
            <a:r>
              <a:rPr lang="en-GB" b="1" dirty="0"/>
              <a:t>Reset</a:t>
            </a:r>
          </a:p>
          <a:p>
            <a:pPr lvl="1"/>
            <a:r>
              <a:rPr lang="en-GB" dirty="0"/>
              <a:t>“set” a bit means to make it TRUE</a:t>
            </a:r>
          </a:p>
          <a:p>
            <a:pPr lvl="1"/>
            <a:r>
              <a:rPr lang="en-GB" dirty="0"/>
              <a:t>“reset” a bit means to make it FALSE</a:t>
            </a:r>
          </a:p>
          <a:p>
            <a:endParaRPr lang="en-GB" dirty="0"/>
          </a:p>
          <a:p>
            <a:r>
              <a:rPr lang="en-GB" dirty="0"/>
              <a:t>When neither input is asserted, Q </a:t>
            </a:r>
            <a:r>
              <a:rPr lang="en-GB" b="1" dirty="0"/>
              <a:t>remembers</a:t>
            </a:r>
            <a:r>
              <a:rPr lang="en-GB" dirty="0"/>
              <a:t> its old value</a:t>
            </a:r>
          </a:p>
          <a:p>
            <a:endParaRPr lang="en-GB" dirty="0"/>
          </a:p>
          <a:p>
            <a:r>
              <a:rPr lang="en-GB" dirty="0"/>
              <a:t>Asserting both S and R simultaneously </a:t>
            </a:r>
            <a:r>
              <a:rPr lang="en-GB" b="1" dirty="0"/>
              <a:t>doesn’t make sense </a:t>
            </a:r>
          </a:p>
          <a:p>
            <a:pPr lvl="1"/>
            <a:r>
              <a:rPr lang="en-GB" dirty="0"/>
              <a:t>it means the latch should be set and reset at the same time</a:t>
            </a:r>
          </a:p>
          <a:p>
            <a:pPr lvl="1"/>
            <a:r>
              <a:rPr lang="en-GB" dirty="0"/>
              <a:t>the confused circuit responds by making both outputs 0</a:t>
            </a:r>
          </a:p>
          <a:p>
            <a:pPr lvl="1"/>
            <a:endParaRPr lang="en-GB" dirty="0"/>
          </a:p>
        </p:txBody>
      </p:sp>
      <p:pic>
        <p:nvPicPr>
          <p:cNvPr id="5" name="Immagine 4" descr="Immagine che contiene diagramma, linea, Diagramma, Carattere&#10;&#10;Descrizione generata automaticamente">
            <a:extLst>
              <a:ext uri="{FF2B5EF4-FFF2-40B4-BE49-F238E27FC236}">
                <a16:creationId xmlns:a16="http://schemas.microsoft.com/office/drawing/2014/main" id="{2388DB28-AC23-EDE9-306C-782ABA19A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309" y="1593564"/>
            <a:ext cx="7014754" cy="174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6669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66349C78-6FAE-A6FB-C820-A543D3830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B49367CA-0ACE-95F3-382A-E3DB1D4FB7E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SR Latch VHDL</a:t>
            </a:r>
            <a:endParaRPr dirty="0"/>
          </a:p>
        </p:txBody>
      </p:sp>
      <p:pic>
        <p:nvPicPr>
          <p:cNvPr id="6" name="Immagine 5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E618D646-FC6A-4979-CAE1-4B11665DA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750" y="1043733"/>
            <a:ext cx="2578100" cy="1460500"/>
          </a:xfrm>
          <a:prstGeom prst="rect">
            <a:avLst/>
          </a:prstGeom>
        </p:spPr>
      </p:pic>
      <p:pic>
        <p:nvPicPr>
          <p:cNvPr id="8" name="Immagine 7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229435EC-F5A3-E2B1-7925-5B5E97CD36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0" y="2696417"/>
            <a:ext cx="3714750" cy="3571875"/>
          </a:xfrm>
          <a:prstGeom prst="rect">
            <a:avLst/>
          </a:prstGeom>
        </p:spPr>
      </p:pic>
      <p:sp>
        <p:nvSpPr>
          <p:cNvPr id="9" name="Ovale 8">
            <a:extLst>
              <a:ext uri="{FF2B5EF4-FFF2-40B4-BE49-F238E27FC236}">
                <a16:creationId xmlns:a16="http://schemas.microsoft.com/office/drawing/2014/main" id="{A5C1966B-37FF-3DF7-29F3-C11CB3E787A2}"/>
              </a:ext>
            </a:extLst>
          </p:cNvPr>
          <p:cNvSpPr/>
          <p:nvPr/>
        </p:nvSpPr>
        <p:spPr>
          <a:xfrm>
            <a:off x="1746250" y="5103067"/>
            <a:ext cx="1098550" cy="6477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Ovale 9">
            <a:extLst>
              <a:ext uri="{FF2B5EF4-FFF2-40B4-BE49-F238E27FC236}">
                <a16:creationId xmlns:a16="http://schemas.microsoft.com/office/drawing/2014/main" id="{466F99CC-429C-6089-BF4D-CB754E56889E}"/>
              </a:ext>
            </a:extLst>
          </p:cNvPr>
          <p:cNvSpPr/>
          <p:nvPr/>
        </p:nvSpPr>
        <p:spPr>
          <a:xfrm>
            <a:off x="2133600" y="3136900"/>
            <a:ext cx="1098550" cy="6477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1302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 Latch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142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SR latch is awkward </a:t>
            </a:r>
          </a:p>
          <a:p>
            <a:pPr lvl="1"/>
            <a:r>
              <a:rPr lang="en-GB" dirty="0"/>
              <a:t>it behaves strangely when both S and R are simultaneously asserted</a:t>
            </a:r>
          </a:p>
          <a:p>
            <a:pPr lvl="1"/>
            <a:r>
              <a:rPr lang="en-GB" dirty="0"/>
              <a:t>moreover, S and R conflate the </a:t>
            </a:r>
            <a:r>
              <a:rPr lang="en-GB" b="1" dirty="0"/>
              <a:t>issues of what and when</a:t>
            </a:r>
          </a:p>
          <a:p>
            <a:pPr lvl="2"/>
            <a:r>
              <a:rPr lang="en-GB" dirty="0"/>
              <a:t>asserting one input determines </a:t>
            </a:r>
            <a:r>
              <a:rPr lang="en-GB" b="1" dirty="0"/>
              <a:t>what</a:t>
            </a:r>
            <a:r>
              <a:rPr lang="en-GB" dirty="0"/>
              <a:t> the state should be and </a:t>
            </a:r>
            <a:r>
              <a:rPr lang="en-GB" b="1" dirty="0"/>
              <a:t>when</a:t>
            </a:r>
            <a:r>
              <a:rPr lang="en-GB" dirty="0"/>
              <a:t> it should change</a:t>
            </a:r>
          </a:p>
          <a:p>
            <a:pPr marL="120650" lvl="0" indent="0">
              <a:buNone/>
            </a:pPr>
            <a:endParaRPr lang="en-GB" sz="500" dirty="0"/>
          </a:p>
          <a:p>
            <a:pPr lvl="0"/>
            <a:r>
              <a:rPr lang="en-GB" dirty="0"/>
              <a:t>Design is easier when these questions (what and when) are </a:t>
            </a:r>
            <a:r>
              <a:rPr lang="en-GB" b="1" dirty="0"/>
              <a:t>separated</a:t>
            </a:r>
          </a:p>
          <a:p>
            <a:pPr lvl="0"/>
            <a:endParaRPr lang="en-GB" sz="500" dirty="0"/>
          </a:p>
          <a:p>
            <a:pPr lvl="0"/>
            <a:r>
              <a:rPr lang="en-GB" dirty="0"/>
              <a:t>The D latch avoids the strange case of simultaneously asserted R and S inputs</a:t>
            </a:r>
          </a:p>
          <a:p>
            <a:pPr lvl="1"/>
            <a:r>
              <a:rPr lang="en-GB" b="1" dirty="0"/>
              <a:t>data input </a:t>
            </a:r>
            <a:r>
              <a:rPr lang="en-GB" dirty="0"/>
              <a:t>D controls what the next state should be</a:t>
            </a:r>
          </a:p>
          <a:p>
            <a:pPr lvl="1"/>
            <a:r>
              <a:rPr lang="en-GB" b="1" dirty="0"/>
              <a:t>clock input</a:t>
            </a:r>
            <a:r>
              <a:rPr lang="en-GB" dirty="0"/>
              <a:t> CLK controls when the state should change</a:t>
            </a:r>
          </a:p>
          <a:p>
            <a:pPr lvl="1"/>
            <a:r>
              <a:rPr lang="en-GB" dirty="0"/>
              <a:t>if CLK=0, S and R are FALSE (regardless of D) and Q remembers its old value</a:t>
            </a:r>
          </a:p>
          <a:p>
            <a:pPr lvl="1"/>
            <a:r>
              <a:rPr lang="en-GB" dirty="0"/>
              <a:t>if CLK=1, one AND is TRUE and the other is FALSE (depending on D) and Q = D </a:t>
            </a:r>
          </a:p>
          <a:p>
            <a:pPr lvl="1"/>
            <a:r>
              <a:rPr lang="en-GB" dirty="0"/>
              <a:t>In all cases, Q is the complement of Q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linea, testo, Carattere&#10;&#10;Descrizione generata automaticamente">
            <a:extLst>
              <a:ext uri="{FF2B5EF4-FFF2-40B4-BE49-F238E27FC236}">
                <a16:creationId xmlns:a16="http://schemas.microsoft.com/office/drawing/2014/main" id="{E71E84B7-646E-278C-1CF4-B1ED5AD907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182" y="5157346"/>
            <a:ext cx="7772400" cy="1473577"/>
          </a:xfrm>
          <a:prstGeom prst="rect">
            <a:avLst/>
          </a:prstGeom>
        </p:spPr>
      </p:pic>
      <p:cxnSp>
        <p:nvCxnSpPr>
          <p:cNvPr id="2" name="Connettore 1 1">
            <a:extLst>
              <a:ext uri="{FF2B5EF4-FFF2-40B4-BE49-F238E27FC236}">
                <a16:creationId xmlns:a16="http://schemas.microsoft.com/office/drawing/2014/main" id="{8BDBEA44-580C-3D86-66F9-12AE88FB1B48}"/>
              </a:ext>
            </a:extLst>
          </p:cNvPr>
          <p:cNvCxnSpPr/>
          <p:nvPr/>
        </p:nvCxnSpPr>
        <p:spPr>
          <a:xfrm>
            <a:off x="2229939" y="4908369"/>
            <a:ext cx="11321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2781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D54C6AF1-2742-0CE1-754C-E517C0747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FCB721D-77DB-0006-10B0-94107ADB692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 Latch VHDL</a:t>
            </a:r>
            <a:endParaRPr dirty="0"/>
          </a:p>
        </p:txBody>
      </p:sp>
      <p:pic>
        <p:nvPicPr>
          <p:cNvPr id="7" name="Immagine 6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FE5039FA-7B53-D0D2-6E70-8819E06A9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742233"/>
            <a:ext cx="2832100" cy="1473200"/>
          </a:xfrm>
          <a:prstGeom prst="rect">
            <a:avLst/>
          </a:prstGeom>
        </p:spPr>
      </p:pic>
      <p:pic>
        <p:nvPicPr>
          <p:cNvPr id="9" name="Immagine 8" descr="Immagine che contiene testo, Carattere, schermata, numero&#10;&#10;Il contenuto generato dall'IA potrebbe non essere corretto.">
            <a:extLst>
              <a:ext uri="{FF2B5EF4-FFF2-40B4-BE49-F238E27FC236}">
                <a16:creationId xmlns:a16="http://schemas.microsoft.com/office/drawing/2014/main" id="{C632EC3C-B24E-DE17-6798-C49B990790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3429000"/>
            <a:ext cx="35306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1447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Clock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clock controls </a:t>
            </a:r>
            <a:r>
              <a:rPr lang="en-GB" b="1" dirty="0"/>
              <a:t>when</a:t>
            </a:r>
            <a:r>
              <a:rPr lang="en-GB" dirty="0"/>
              <a:t> data flows through the latch</a:t>
            </a:r>
          </a:p>
          <a:p>
            <a:pPr lvl="1"/>
            <a:r>
              <a:rPr lang="en-GB" dirty="0"/>
              <a:t>when CLK = 1, the latch is </a:t>
            </a:r>
            <a:r>
              <a:rPr lang="en-GB" b="1" dirty="0"/>
              <a:t>transparent</a:t>
            </a:r>
          </a:p>
          <a:p>
            <a:pPr lvl="2"/>
            <a:r>
              <a:rPr lang="en-GB" dirty="0"/>
              <a:t>data at D flows through to Q as if the latch were just a buffer</a:t>
            </a:r>
          </a:p>
          <a:p>
            <a:pPr lvl="1"/>
            <a:r>
              <a:rPr lang="en-GB" dirty="0"/>
              <a:t>when CLK = 0, the latch is </a:t>
            </a:r>
            <a:r>
              <a:rPr lang="en-GB" b="1" dirty="0"/>
              <a:t>opaque</a:t>
            </a:r>
          </a:p>
          <a:p>
            <a:pPr lvl="2"/>
            <a:r>
              <a:rPr lang="en-GB" dirty="0"/>
              <a:t>it blocks the new data from flowing through to Q, and Q retains the old value</a:t>
            </a:r>
          </a:p>
        </p:txBody>
      </p:sp>
    </p:spTree>
    <p:extLst>
      <p:ext uri="{BB962C8B-B14F-4D97-AF65-F5344CB8AC3E}">
        <p14:creationId xmlns:p14="http://schemas.microsoft.com/office/powerpoint/2010/main" val="9205579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 Flip-Flop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23212" y="1044579"/>
            <a:ext cx="8818500" cy="56127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Two back-to-back D latches controlled by complementary clocks</a:t>
            </a:r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0" dirty="0"/>
          </a:p>
          <a:p>
            <a:pPr lvl="0"/>
            <a:endParaRPr lang="en-GB" sz="100" dirty="0"/>
          </a:p>
          <a:p>
            <a:pPr lvl="1"/>
            <a:r>
              <a:rPr lang="en-GB" dirty="0"/>
              <a:t>L1 is called the </a:t>
            </a:r>
            <a:r>
              <a:rPr lang="en-GB" b="1" dirty="0"/>
              <a:t>leader/master</a:t>
            </a:r>
          </a:p>
          <a:p>
            <a:pPr lvl="1"/>
            <a:r>
              <a:rPr lang="en-GB" dirty="0"/>
              <a:t>L2 is called the </a:t>
            </a:r>
            <a:r>
              <a:rPr lang="en-GB" b="1" dirty="0"/>
              <a:t>follower/slave</a:t>
            </a:r>
          </a:p>
          <a:p>
            <a:pPr marL="590550" lvl="1" indent="0">
              <a:buNone/>
            </a:pPr>
            <a:endParaRPr lang="en-GB" sz="100" dirty="0"/>
          </a:p>
          <a:p>
            <a:r>
              <a:rPr lang="en-GB" dirty="0"/>
              <a:t>It copies D to Q on the </a:t>
            </a:r>
            <a:r>
              <a:rPr lang="en-GB" b="1" dirty="0"/>
              <a:t>rising edge </a:t>
            </a:r>
            <a:r>
              <a:rPr lang="en-GB" dirty="0"/>
              <a:t>of the clock and remembers its state at all other times:</a:t>
            </a:r>
          </a:p>
          <a:p>
            <a:pPr lvl="1"/>
            <a:r>
              <a:rPr lang="en-GB" dirty="0"/>
              <a:t>when CLK=0, the master is transparent and the slave is opaque</a:t>
            </a:r>
          </a:p>
          <a:p>
            <a:pPr lvl="1"/>
            <a:r>
              <a:rPr lang="en-GB" dirty="0"/>
              <a:t>when CLK=1, the master goes opaque and the salve becomes transparent</a:t>
            </a:r>
          </a:p>
          <a:p>
            <a:pPr lvl="2"/>
            <a:endParaRPr lang="en-GB" sz="100" dirty="0"/>
          </a:p>
          <a:p>
            <a:r>
              <a:rPr lang="en-GB" dirty="0"/>
              <a:t>The </a:t>
            </a:r>
            <a:r>
              <a:rPr lang="en-GB" b="1" dirty="0"/>
              <a:t>D input</a:t>
            </a:r>
            <a:r>
              <a:rPr lang="en-GB" dirty="0"/>
              <a:t> specifies </a:t>
            </a:r>
            <a:r>
              <a:rPr lang="en-GB" b="1" dirty="0"/>
              <a:t>what</a:t>
            </a:r>
            <a:r>
              <a:rPr lang="en-GB" dirty="0"/>
              <a:t> the new state will be, the </a:t>
            </a:r>
            <a:r>
              <a:rPr lang="en-GB" b="1" dirty="0"/>
              <a:t>clock edge</a:t>
            </a:r>
            <a:r>
              <a:rPr lang="en-GB" dirty="0"/>
              <a:t> indicates </a:t>
            </a:r>
            <a:r>
              <a:rPr lang="en-GB" b="1" dirty="0"/>
              <a:t>when </a:t>
            </a:r>
            <a:r>
              <a:rPr lang="en-GB" dirty="0"/>
              <a:t>the state should be updated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7" name="Immagine 6" descr="Immagine che contiene diagramma, Piano, Disegno tecnico, schematico&#10;&#10;Descrizione generata automaticamente">
            <a:extLst>
              <a:ext uri="{FF2B5EF4-FFF2-40B4-BE49-F238E27FC236}">
                <a16:creationId xmlns:a16="http://schemas.microsoft.com/office/drawing/2014/main" id="{C732749A-3E02-57A1-4AFE-6F4825CDB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43" y="1422885"/>
            <a:ext cx="5619635" cy="19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4735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A17A4450-29BC-0BB7-1116-4830FD81E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F62EF561-98CE-137C-A557-6075C661F947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 Flip-Flop VHDL</a:t>
            </a:r>
            <a:endParaRPr dirty="0"/>
          </a:p>
        </p:txBody>
      </p:sp>
      <p:pic>
        <p:nvPicPr>
          <p:cNvPr id="5" name="Immagine 4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BA9A6BF6-A967-C6F0-9724-F9440027B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" y="1689100"/>
            <a:ext cx="2832100" cy="1498600"/>
          </a:xfrm>
          <a:prstGeom prst="rect">
            <a:avLst/>
          </a:prstGeom>
        </p:spPr>
      </p:pic>
      <p:pic>
        <p:nvPicPr>
          <p:cNvPr id="8" name="Immagine 7" descr="Immagine che contiene testo, ricevuta, Carattere, schermata&#10;&#10;Il contenuto generato dall'IA potrebbe non essere corretto.">
            <a:extLst>
              <a:ext uri="{FF2B5EF4-FFF2-40B4-BE49-F238E27FC236}">
                <a16:creationId xmlns:a16="http://schemas.microsoft.com/office/drawing/2014/main" id="{B22E6734-D3A4-5FB6-F0D0-4BD3E4470D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" y="3402784"/>
            <a:ext cx="4445000" cy="2235200"/>
          </a:xfrm>
          <a:prstGeom prst="rect">
            <a:avLst/>
          </a:prstGeom>
        </p:spPr>
      </p:pic>
      <p:pic>
        <p:nvPicPr>
          <p:cNvPr id="10" name="Immagine 9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49932138-09DB-490D-656E-97E3514B1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8950" y="3682184"/>
            <a:ext cx="2673350" cy="1245416"/>
          </a:xfrm>
          <a:prstGeom prst="rect">
            <a:avLst/>
          </a:prstGeom>
        </p:spPr>
      </p:pic>
      <p:cxnSp>
        <p:nvCxnSpPr>
          <p:cNvPr id="12" name="Connettore diritto a freccia 11">
            <a:extLst>
              <a:ext uri="{FF2B5EF4-FFF2-40B4-BE49-F238E27FC236}">
                <a16:creationId xmlns:a16="http://schemas.microsoft.com/office/drawing/2014/main" id="{9E63353B-363D-AFE2-4EFC-870596792DE2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4572000" y="4304892"/>
            <a:ext cx="15869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e 13">
            <a:extLst>
              <a:ext uri="{FF2B5EF4-FFF2-40B4-BE49-F238E27FC236}">
                <a16:creationId xmlns:a16="http://schemas.microsoft.com/office/drawing/2014/main" id="{82164892-2854-BDFD-A26C-9483E28DCB4A}"/>
              </a:ext>
            </a:extLst>
          </p:cNvPr>
          <p:cNvSpPr/>
          <p:nvPr/>
        </p:nvSpPr>
        <p:spPr>
          <a:xfrm>
            <a:off x="1663700" y="4076701"/>
            <a:ext cx="2413000" cy="4572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Ovale 14">
            <a:extLst>
              <a:ext uri="{FF2B5EF4-FFF2-40B4-BE49-F238E27FC236}">
                <a16:creationId xmlns:a16="http://schemas.microsoft.com/office/drawing/2014/main" id="{A77073D5-BC11-3CD9-1D57-26D1BFDB3C86}"/>
              </a:ext>
            </a:extLst>
          </p:cNvPr>
          <p:cNvSpPr/>
          <p:nvPr/>
        </p:nvSpPr>
        <p:spPr>
          <a:xfrm>
            <a:off x="2305050" y="3794535"/>
            <a:ext cx="565150" cy="34924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Ovale 15">
            <a:extLst>
              <a:ext uri="{FF2B5EF4-FFF2-40B4-BE49-F238E27FC236}">
                <a16:creationId xmlns:a16="http://schemas.microsoft.com/office/drawing/2014/main" id="{6FED0BD6-A734-0561-2850-951FB084EEAE}"/>
              </a:ext>
            </a:extLst>
          </p:cNvPr>
          <p:cNvSpPr/>
          <p:nvPr/>
        </p:nvSpPr>
        <p:spPr>
          <a:xfrm>
            <a:off x="6905074" y="4045360"/>
            <a:ext cx="1349925" cy="34924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64582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Flip-Flop and Latch comparison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99821" y="1010513"/>
            <a:ext cx="8520600" cy="56029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Apply D and CLK inputs to a D latch and a D flip-flop to determine Q</a:t>
            </a:r>
          </a:p>
          <a:p>
            <a:pPr lvl="0"/>
            <a:endParaRPr lang="en-GB" sz="600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marL="120650" lvl="0" indent="0">
              <a:buNone/>
            </a:pPr>
            <a:endParaRPr lang="en-GB" sz="900" dirty="0"/>
          </a:p>
          <a:p>
            <a:r>
              <a:rPr lang="en-GB" dirty="0"/>
              <a:t>The initial value of Q is </a:t>
            </a:r>
            <a:r>
              <a:rPr lang="en-GB" b="1" dirty="0"/>
              <a:t>unknown</a:t>
            </a:r>
            <a:endParaRPr lang="en-GB" dirty="0"/>
          </a:p>
          <a:p>
            <a:r>
              <a:rPr lang="en-GB" dirty="0"/>
              <a:t>Consider the latch: </a:t>
            </a:r>
          </a:p>
          <a:p>
            <a:pPr lvl="1"/>
            <a:r>
              <a:rPr lang="en-GB" dirty="0"/>
              <a:t>on the first CLK rising edge, D=0 so Q becomes 0 </a:t>
            </a:r>
          </a:p>
          <a:p>
            <a:pPr lvl="1"/>
            <a:r>
              <a:rPr lang="en-GB" dirty="0"/>
              <a:t>each time D changes while CLK=1, Q follows </a:t>
            </a:r>
          </a:p>
          <a:p>
            <a:pPr lvl="1"/>
            <a:r>
              <a:rPr lang="en-GB" dirty="0"/>
              <a:t>when D changes while CLK=0, D is ignored</a:t>
            </a:r>
          </a:p>
          <a:p>
            <a:r>
              <a:rPr lang="en-GB" dirty="0"/>
              <a:t>Consider the flip-flop: </a:t>
            </a:r>
          </a:p>
          <a:p>
            <a:pPr lvl="1"/>
            <a:r>
              <a:rPr lang="en-GB" b="1" dirty="0"/>
              <a:t>on each CLK rising edge</a:t>
            </a:r>
            <a:r>
              <a:rPr lang="en-GB" dirty="0"/>
              <a:t>, D is copied to Q </a:t>
            </a:r>
          </a:p>
          <a:p>
            <a:pPr lvl="1"/>
            <a:r>
              <a:rPr lang="en-GB" dirty="0"/>
              <a:t>at all other times, Q retains its state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linea, Piano, Parallelo&#10;&#10;Descrizione generata automaticamente">
            <a:extLst>
              <a:ext uri="{FF2B5EF4-FFF2-40B4-BE49-F238E27FC236}">
                <a16:creationId xmlns:a16="http://schemas.microsoft.com/office/drawing/2014/main" id="{0BA6B75B-4C80-3C6D-6C76-C4E7E139A5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639" y="1418129"/>
            <a:ext cx="4855221" cy="2325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736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Register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125449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 N-bit register is a </a:t>
            </a:r>
            <a:r>
              <a:rPr lang="en-GB" b="1" dirty="0"/>
              <a:t>bank</a:t>
            </a:r>
            <a:r>
              <a:rPr lang="en-GB" dirty="0"/>
              <a:t> of N flip-flops that </a:t>
            </a:r>
            <a:r>
              <a:rPr lang="en-GB" b="1" dirty="0"/>
              <a:t>share a common CLK</a:t>
            </a:r>
          </a:p>
          <a:p>
            <a:pPr lvl="1"/>
            <a:r>
              <a:rPr lang="en-GB" dirty="0"/>
              <a:t>all bits of the register are updated at the same time</a:t>
            </a:r>
          </a:p>
          <a:p>
            <a:pPr lvl="1"/>
            <a:r>
              <a:rPr lang="en-GB" dirty="0"/>
              <a:t>registers are the </a:t>
            </a:r>
            <a:r>
              <a:rPr lang="en-GB" b="1" dirty="0"/>
              <a:t>key building block of most sequential circuits</a:t>
            </a:r>
          </a:p>
          <a:p>
            <a:pPr lvl="1"/>
            <a:endParaRPr lang="en-GB" dirty="0"/>
          </a:p>
        </p:txBody>
      </p:sp>
      <p:pic>
        <p:nvPicPr>
          <p:cNvPr id="4" name="Immagine 3" descr="Immagine che contiene diagramma, Piano, Disegno tecnico, schematico&#10;&#10;Descrizione generata automaticamente">
            <a:extLst>
              <a:ext uri="{FF2B5EF4-FFF2-40B4-BE49-F238E27FC236}">
                <a16:creationId xmlns:a16="http://schemas.microsoft.com/office/drawing/2014/main" id="{A07DC030-48C4-E425-EA7D-7EBF92B3C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604" y="2222061"/>
            <a:ext cx="4232367" cy="4352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6866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264702E4-323E-CB07-C01B-A9BDE3DA9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97BE35F4-9627-EAA1-ED4A-790F8851C70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Register VHDL</a:t>
            </a:r>
            <a:endParaRPr dirty="0"/>
          </a:p>
        </p:txBody>
      </p:sp>
      <p:pic>
        <p:nvPicPr>
          <p:cNvPr id="6" name="Immagine 5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4F2504EB-1238-230F-2D60-84F9E7F61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150" y="1149350"/>
            <a:ext cx="4965700" cy="1739900"/>
          </a:xfrm>
          <a:prstGeom prst="rect">
            <a:avLst/>
          </a:prstGeom>
        </p:spPr>
      </p:pic>
      <p:pic>
        <p:nvPicPr>
          <p:cNvPr id="8" name="Immagine 7" descr="Immagine che contiene testo, schermata, Carattere, ricevuta&#10;&#10;Il contenuto generato dall'IA potrebbe non essere corretto.">
            <a:extLst>
              <a:ext uri="{FF2B5EF4-FFF2-40B4-BE49-F238E27FC236}">
                <a16:creationId xmlns:a16="http://schemas.microsoft.com/office/drawing/2014/main" id="{E8BE51AE-0EC8-BB98-6AE4-423E984CB3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150" y="3071267"/>
            <a:ext cx="5753100" cy="3365500"/>
          </a:xfrm>
          <a:prstGeom prst="rect">
            <a:avLst/>
          </a:prstGeom>
        </p:spPr>
      </p:pic>
      <p:sp>
        <p:nvSpPr>
          <p:cNvPr id="9" name="Ovale 8">
            <a:extLst>
              <a:ext uri="{FF2B5EF4-FFF2-40B4-BE49-F238E27FC236}">
                <a16:creationId xmlns:a16="http://schemas.microsoft.com/office/drawing/2014/main" id="{D2A66C81-8357-197D-0478-8F45D283079F}"/>
              </a:ext>
            </a:extLst>
          </p:cNvPr>
          <p:cNvSpPr/>
          <p:nvPr/>
        </p:nvSpPr>
        <p:spPr>
          <a:xfrm>
            <a:off x="1631950" y="4916784"/>
            <a:ext cx="2584450" cy="34924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52799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Enabled Flip-Flop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43733"/>
            <a:ext cx="8818500" cy="556354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Another input called </a:t>
            </a:r>
            <a:r>
              <a:rPr lang="en-GB" b="1" dirty="0"/>
              <a:t>Enable</a:t>
            </a:r>
            <a:r>
              <a:rPr lang="en-GB" dirty="0"/>
              <a:t> to determine if data is loaded on the clock edge</a:t>
            </a:r>
          </a:p>
          <a:p>
            <a:pPr lvl="1"/>
            <a:r>
              <a:rPr lang="en-GB" dirty="0"/>
              <a:t>when Enable is TRUE, the flip-flop behaves like an ordinary D flip-flop</a:t>
            </a:r>
          </a:p>
          <a:p>
            <a:pPr lvl="1"/>
            <a:r>
              <a:rPr lang="en-GB" dirty="0"/>
              <a:t>when Enable is FALSE, the flip-flop ignores the clock and retains its state</a:t>
            </a:r>
          </a:p>
          <a:p>
            <a:pPr lvl="0"/>
            <a:r>
              <a:rPr lang="en-GB" dirty="0"/>
              <a:t>Useful when we wish </a:t>
            </a:r>
            <a:r>
              <a:rPr lang="en-GB" b="1" dirty="0"/>
              <a:t>to load a new value into a flip-flop only some of the time</a:t>
            </a:r>
            <a:r>
              <a:rPr lang="en-GB" dirty="0"/>
              <a:t>, rather than on every clock edge</a:t>
            </a:r>
          </a:p>
          <a:p>
            <a:pPr lvl="0"/>
            <a:endParaRPr lang="en-GB" sz="800" dirty="0"/>
          </a:p>
          <a:p>
            <a:pPr lvl="0"/>
            <a:r>
              <a:rPr lang="en-GB" dirty="0"/>
              <a:t>Two ways to implement it</a:t>
            </a:r>
          </a:p>
          <a:p>
            <a:pPr lvl="1"/>
            <a:r>
              <a:rPr lang="en-GB" dirty="0"/>
              <a:t>an input multiplexer:</a:t>
            </a:r>
          </a:p>
          <a:p>
            <a:pPr lvl="2"/>
            <a:r>
              <a:rPr lang="en-GB" dirty="0"/>
              <a:t>the value D pass if Enable is TRUE </a:t>
            </a:r>
          </a:p>
          <a:p>
            <a:pPr lvl="2"/>
            <a:r>
              <a:rPr lang="en-GB" dirty="0"/>
              <a:t>the old state is recycled if Enable is FALSE</a:t>
            </a:r>
          </a:p>
          <a:p>
            <a:pPr lvl="1"/>
            <a:r>
              <a:rPr lang="en-GB" dirty="0"/>
              <a:t>the clock can be gated:</a:t>
            </a:r>
          </a:p>
          <a:p>
            <a:pPr lvl="2"/>
            <a:r>
              <a:rPr lang="en-GB" dirty="0"/>
              <a:t>if Enable is TRUE, the CLK toggles normally</a:t>
            </a:r>
          </a:p>
          <a:p>
            <a:pPr lvl="2"/>
            <a:r>
              <a:rPr lang="en-GB" dirty="0"/>
              <a:t>if Enable is FALSE, the CLK input is also FALSE</a:t>
            </a:r>
          </a:p>
          <a:p>
            <a:pPr lvl="2"/>
            <a:r>
              <a:rPr lang="en-GB" dirty="0"/>
              <a:t>notice that Enable must not change while CLK=1 or the flip-flop </a:t>
            </a:r>
            <a:br>
              <a:rPr lang="en-GB" dirty="0"/>
            </a:br>
            <a:r>
              <a:rPr lang="en-GB" dirty="0"/>
              <a:t>see a </a:t>
            </a:r>
            <a:r>
              <a:rPr lang="en-GB" b="1" dirty="0"/>
              <a:t>clock glitch </a:t>
            </a:r>
            <a:r>
              <a:rPr lang="en-GB" dirty="0"/>
              <a:t>(switch at an incorrect time)</a:t>
            </a:r>
          </a:p>
          <a:p>
            <a:r>
              <a:rPr lang="en-GB" dirty="0"/>
              <a:t>Generally, </a:t>
            </a:r>
            <a:r>
              <a:rPr lang="en-GB" b="1" dirty="0"/>
              <a:t>performing logic on the clock is a bad idea</a:t>
            </a:r>
            <a:r>
              <a:rPr lang="en-GB" dirty="0"/>
              <a:t> </a:t>
            </a:r>
          </a:p>
        </p:txBody>
      </p:sp>
      <p:pic>
        <p:nvPicPr>
          <p:cNvPr id="3" name="Immagine 2" descr="Immagine che contiene diagramma, schizzo, Disegno tecnico, linea&#10;&#10;Descrizione generata automaticamente">
            <a:extLst>
              <a:ext uri="{FF2B5EF4-FFF2-40B4-BE49-F238E27FC236}">
                <a16:creationId xmlns:a16="http://schemas.microsoft.com/office/drawing/2014/main" id="{4670F9A1-0C12-7DCE-59A7-8D697F7446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689" y="2601569"/>
            <a:ext cx="2692611" cy="1818286"/>
          </a:xfrm>
          <a:prstGeom prst="rect">
            <a:avLst/>
          </a:prstGeom>
        </p:spPr>
      </p:pic>
      <p:pic>
        <p:nvPicPr>
          <p:cNvPr id="6" name="Immagine 5" descr="Immagine che contiene diagramma, schizzo, disegno, Disegno tecnico&#10;&#10;Descrizione generata automaticamente">
            <a:extLst>
              <a:ext uri="{FF2B5EF4-FFF2-40B4-BE49-F238E27FC236}">
                <a16:creationId xmlns:a16="http://schemas.microsoft.com/office/drawing/2014/main" id="{EFC88645-D3D4-BCEE-124C-6111D5975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3539" y="4503529"/>
            <a:ext cx="182880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516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5F75A118-F737-8A66-5697-F5E9C720F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A7D2CE65-CD63-17EB-D935-879C1A28A066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Enabled Flip-Flop VHDL</a:t>
            </a:r>
            <a:endParaRPr dirty="0"/>
          </a:p>
        </p:txBody>
      </p:sp>
      <p:pic>
        <p:nvPicPr>
          <p:cNvPr id="7" name="Immagine 6" descr="Immagine che contiene testo, Carattere, schermata, bianco&#10;&#10;Il contenuto generato dall'IA potrebbe non essere corretto.">
            <a:extLst>
              <a:ext uri="{FF2B5EF4-FFF2-40B4-BE49-F238E27FC236}">
                <a16:creationId xmlns:a16="http://schemas.microsoft.com/office/drawing/2014/main" id="{29288F35-0273-A406-749E-5681B22A6E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136650"/>
            <a:ext cx="3073400" cy="1765300"/>
          </a:xfrm>
          <a:prstGeom prst="rect">
            <a:avLst/>
          </a:prstGeom>
        </p:spPr>
      </p:pic>
      <p:pic>
        <p:nvPicPr>
          <p:cNvPr id="9" name="Immagine 8" descr="Immagine che contiene testo, schermata, Carattere, numero&#10;&#10;Il contenuto generato dall'IA potrebbe non essere corretto.">
            <a:extLst>
              <a:ext uri="{FF2B5EF4-FFF2-40B4-BE49-F238E27FC236}">
                <a16:creationId xmlns:a16="http://schemas.microsoft.com/office/drawing/2014/main" id="{E327884D-AC10-7673-D48D-7A32CFA2A0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00" y="3187700"/>
            <a:ext cx="3479800" cy="2641600"/>
          </a:xfrm>
          <a:prstGeom prst="rect">
            <a:avLst/>
          </a:prstGeom>
        </p:spPr>
      </p:pic>
      <p:sp>
        <p:nvSpPr>
          <p:cNvPr id="10" name="Ovale 9">
            <a:extLst>
              <a:ext uri="{FF2B5EF4-FFF2-40B4-BE49-F238E27FC236}">
                <a16:creationId xmlns:a16="http://schemas.microsoft.com/office/drawing/2014/main" id="{4F7C11AA-ADDC-4C9E-3F91-2E7A3ED6AEC1}"/>
              </a:ext>
            </a:extLst>
          </p:cNvPr>
          <p:cNvSpPr/>
          <p:nvPr/>
        </p:nvSpPr>
        <p:spPr>
          <a:xfrm>
            <a:off x="1682750" y="4333875"/>
            <a:ext cx="1403350" cy="34924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416039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Resettable Flip-Flop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69063"/>
            <a:ext cx="8818500" cy="546620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Another input, called </a:t>
            </a:r>
            <a:r>
              <a:rPr lang="en-GB" b="1" dirty="0"/>
              <a:t>Reset</a:t>
            </a:r>
          </a:p>
          <a:p>
            <a:pPr lvl="1"/>
            <a:r>
              <a:rPr lang="en-GB" dirty="0"/>
              <a:t>when Reset is not active, the flip-flop behaves like an ordinary D flip-flop</a:t>
            </a:r>
          </a:p>
          <a:p>
            <a:pPr lvl="1"/>
            <a:r>
              <a:rPr lang="en-GB" dirty="0"/>
              <a:t>when Reset is active, the flip-flop ignores D and resets the output to 0 </a:t>
            </a:r>
          </a:p>
          <a:p>
            <a:r>
              <a:rPr lang="en-GB" dirty="0"/>
              <a:t>Useful when we want to </a:t>
            </a:r>
            <a:r>
              <a:rPr lang="en-GB" b="1" dirty="0"/>
              <a:t>force a known state into all the flip-flops</a:t>
            </a:r>
            <a:r>
              <a:rPr lang="en-GB" dirty="0"/>
              <a:t> in a system when we first turn it on</a:t>
            </a:r>
          </a:p>
          <a:p>
            <a:r>
              <a:rPr lang="en-GB" dirty="0"/>
              <a:t>We can construct it from an ordinary D flip-flop and an AND gate</a:t>
            </a:r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sz="700" dirty="0"/>
          </a:p>
          <a:p>
            <a:pPr lvl="1"/>
            <a:endParaRPr lang="en-GB" sz="2800" dirty="0"/>
          </a:p>
          <a:p>
            <a:pPr marL="590550" lvl="1" indent="0">
              <a:buNone/>
            </a:pPr>
            <a:endParaRPr lang="en-GB" dirty="0"/>
          </a:p>
          <a:p>
            <a:pPr lvl="1"/>
            <a:r>
              <a:rPr lang="en-GB" dirty="0"/>
              <a:t>the reset is an </a:t>
            </a:r>
            <a:r>
              <a:rPr lang="en-GB" b="1" dirty="0"/>
              <a:t>active low signal</a:t>
            </a:r>
            <a:r>
              <a:rPr lang="en-GB" dirty="0"/>
              <a:t>, meaning that it performs its function  when it is 0</a:t>
            </a:r>
          </a:p>
          <a:p>
            <a:pPr lvl="1"/>
            <a:r>
              <a:rPr lang="en-GB" dirty="0"/>
              <a:t>by adding an inverter, the circuit could have accepted an </a:t>
            </a:r>
            <a:r>
              <a:rPr lang="en-GB" b="1" dirty="0"/>
              <a:t>active high </a:t>
            </a:r>
            <a:r>
              <a:rPr lang="en-GB" dirty="0"/>
              <a:t>reset signal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D6C051C-FD9A-08EE-483E-8D0418210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587" y="3114560"/>
            <a:ext cx="4007565" cy="2593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4157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43AD6A72-84B9-3EBC-2A6F-D0ADF22BE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C0177554-0B58-3F3D-6A3C-842127E2D9D8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Resettable Flip-Flop</a:t>
            </a:r>
            <a:endParaRPr dirty="0"/>
          </a:p>
        </p:txBody>
      </p:sp>
      <p:pic>
        <p:nvPicPr>
          <p:cNvPr id="6" name="Immagine 5" descr="Immagine che contiene testo, Carattere, ricevuta, schermata&#10;&#10;Il contenuto generato dall'IA potrebbe non essere corretto.">
            <a:extLst>
              <a:ext uri="{FF2B5EF4-FFF2-40B4-BE49-F238E27FC236}">
                <a16:creationId xmlns:a16="http://schemas.microsoft.com/office/drawing/2014/main" id="{088DE302-283A-C996-A106-2AE1BAF68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950" y="1119933"/>
            <a:ext cx="4762500" cy="1727200"/>
          </a:xfrm>
          <a:prstGeom prst="rect">
            <a:avLst/>
          </a:prstGeom>
        </p:spPr>
      </p:pic>
      <p:pic>
        <p:nvPicPr>
          <p:cNvPr id="8" name="Immagine 7" descr="Immagine che contiene testo, schermata, Carattere, algebra&#10;&#10;Il contenuto generato dall'IA potrebbe non essere corretto.">
            <a:extLst>
              <a:ext uri="{FF2B5EF4-FFF2-40B4-BE49-F238E27FC236}">
                <a16:creationId xmlns:a16="http://schemas.microsoft.com/office/drawing/2014/main" id="{8D12AD2A-7444-B150-F34B-B032167714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950" y="3058567"/>
            <a:ext cx="5067300" cy="3378200"/>
          </a:xfrm>
          <a:prstGeom prst="rect">
            <a:avLst/>
          </a:prstGeom>
        </p:spPr>
      </p:pic>
      <p:sp>
        <p:nvSpPr>
          <p:cNvPr id="9" name="Ovale 8">
            <a:extLst>
              <a:ext uri="{FF2B5EF4-FFF2-40B4-BE49-F238E27FC236}">
                <a16:creationId xmlns:a16="http://schemas.microsoft.com/office/drawing/2014/main" id="{D68AFDDF-D3F5-1836-9388-6DFA0096DF23}"/>
              </a:ext>
            </a:extLst>
          </p:cNvPr>
          <p:cNvSpPr/>
          <p:nvPr/>
        </p:nvSpPr>
        <p:spPr>
          <a:xfrm>
            <a:off x="742950" y="4002384"/>
            <a:ext cx="2584450" cy="34924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632434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 descr="Immagine che contiene diagramma, Piano, schematico, Disegno tecnico&#10;&#10;Descrizione generata automaticamente">
            <a:extLst>
              <a:ext uri="{FF2B5EF4-FFF2-40B4-BE49-F238E27FC236}">
                <a16:creationId xmlns:a16="http://schemas.microsoft.com/office/drawing/2014/main" id="{7B5397C0-E0E8-7642-3328-C5043EA25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683" y="1424411"/>
            <a:ext cx="7806123" cy="5100000"/>
          </a:xfrm>
          <a:prstGeom prst="rect">
            <a:avLst/>
          </a:prstGeom>
        </p:spPr>
      </p:pic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Transistor-Level Design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85318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How many transistors are needed to build the D flip-flop?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sz="1050" dirty="0"/>
          </a:p>
          <a:p>
            <a:pPr lvl="1"/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The D flip-flop uses </a:t>
            </a:r>
            <a:r>
              <a:rPr lang="en-GB" b="1" dirty="0"/>
              <a:t>46 transistors</a:t>
            </a:r>
            <a:r>
              <a:rPr lang="en-GB" dirty="0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216001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Transistor-Level Design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Many transistors when built from logic gates!</a:t>
            </a:r>
          </a:p>
          <a:p>
            <a:pPr lvl="0"/>
            <a:r>
              <a:rPr lang="en-GB" dirty="0"/>
              <a:t>Its fundamental role is to be </a:t>
            </a:r>
            <a:r>
              <a:rPr lang="en-GB" b="1" dirty="0"/>
              <a:t>transparent or opaque</a:t>
            </a:r>
            <a:r>
              <a:rPr lang="en-GB" dirty="0"/>
              <a:t>, much </a:t>
            </a:r>
            <a:r>
              <a:rPr lang="en-GB" b="1" dirty="0"/>
              <a:t>like a switch</a:t>
            </a:r>
          </a:p>
          <a:p>
            <a:pPr lvl="0"/>
            <a:r>
              <a:rPr lang="en-GB" dirty="0"/>
              <a:t>A compact D latch can be constructed from </a:t>
            </a:r>
            <a:r>
              <a:rPr lang="en-GB" b="1" dirty="0"/>
              <a:t>a single transmission gate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when CLK=1, the transmission gate is ON,  so D flows to Q and </a:t>
            </a:r>
            <a:br>
              <a:rPr lang="en-GB" dirty="0"/>
            </a:br>
            <a:r>
              <a:rPr lang="en-GB" dirty="0"/>
              <a:t>the latch is transparent</a:t>
            </a:r>
          </a:p>
          <a:p>
            <a:pPr lvl="1"/>
            <a:r>
              <a:rPr lang="en-GB" dirty="0"/>
              <a:t>when CLK=0, the transmission gate is OFF,  so Q is isolated </a:t>
            </a:r>
            <a:br>
              <a:rPr lang="en-GB" dirty="0"/>
            </a:br>
            <a:r>
              <a:rPr lang="en-GB" dirty="0"/>
              <a:t>from D and the latch is opaque</a:t>
            </a:r>
            <a:endParaRPr lang="en-GB" sz="1100" dirty="0"/>
          </a:p>
          <a:p>
            <a:pPr lvl="0"/>
            <a:r>
              <a:rPr lang="en-GB" dirty="0"/>
              <a:t>Two major limitations:	</a:t>
            </a:r>
          </a:p>
          <a:p>
            <a:pPr lvl="1"/>
            <a:r>
              <a:rPr lang="en-GB" b="1" dirty="0"/>
              <a:t>floating node</a:t>
            </a:r>
            <a:r>
              <a:rPr lang="en-GB" dirty="0"/>
              <a:t>: when the latch is opaque, Q is not held at its value by any gates, after some time, noise and charge leakage may disturb the value of Q</a:t>
            </a:r>
          </a:p>
          <a:p>
            <a:pPr lvl="1"/>
            <a:r>
              <a:rPr lang="en-GB" b="1" dirty="0"/>
              <a:t>no buffers</a:t>
            </a:r>
          </a:p>
          <a:p>
            <a:pPr lvl="2"/>
            <a:r>
              <a:rPr lang="en-GB" dirty="0"/>
              <a:t>a spike of noise that pulls D to a negative voltage can turn on the nMOS transistor, making the latch transparent, even when CLK=0; </a:t>
            </a:r>
          </a:p>
          <a:p>
            <a:pPr lvl="2"/>
            <a:r>
              <a:rPr lang="en-GB" dirty="0"/>
              <a:t>likewise, a spike on D above VDD can  turn on the pMOS transistor even when CLK=0 </a:t>
            </a:r>
          </a:p>
          <a:p>
            <a:pPr lvl="2"/>
            <a:r>
              <a:rPr lang="en-GB" dirty="0"/>
              <a:t>neither the input of a transmission gate nor the state node of a sequential circuit </a:t>
            </a:r>
            <a:r>
              <a:rPr lang="en-GB" b="1" dirty="0"/>
              <a:t>should ever be exposed to the outside world</a:t>
            </a:r>
            <a:r>
              <a:rPr lang="en-GB" dirty="0"/>
              <a:t> where noise is likely</a:t>
            </a:r>
          </a:p>
        </p:txBody>
      </p:sp>
      <p:pic>
        <p:nvPicPr>
          <p:cNvPr id="4" name="Immagine 3" descr="Immagine che contiene schizzo, diagramma, disegno, linea&#10;&#10;Descrizione generata automaticamente">
            <a:extLst>
              <a:ext uri="{FF2B5EF4-FFF2-40B4-BE49-F238E27FC236}">
                <a16:creationId xmlns:a16="http://schemas.microsoft.com/office/drawing/2014/main" id="{ED98F371-3ED4-EA8A-F744-C70677A38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813" y="2488537"/>
            <a:ext cx="15621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9667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Transistor-Level Design (3)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212537"/>
            <a:ext cx="8818500" cy="51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more robust (12-transistor) D latch used on modern commercial chips</a:t>
            </a:r>
          </a:p>
          <a:p>
            <a:pPr lvl="1"/>
            <a:r>
              <a:rPr lang="en-GB" dirty="0"/>
              <a:t>still built around a clocked transmission gate</a:t>
            </a:r>
          </a:p>
          <a:p>
            <a:pPr lvl="1"/>
            <a:r>
              <a:rPr lang="en-GB" dirty="0"/>
              <a:t>adds inverters to buffer the input and output</a:t>
            </a:r>
          </a:p>
          <a:p>
            <a:pPr lvl="1"/>
            <a:r>
              <a:rPr lang="en-GB" dirty="0"/>
              <a:t>however, it is outside the scope of this course…</a:t>
            </a:r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marL="120650" indent="0">
              <a:buNone/>
            </a:pPr>
            <a:endParaRPr lang="en-GB" dirty="0"/>
          </a:p>
          <a:p>
            <a:r>
              <a:rPr lang="en-GB" dirty="0"/>
              <a:t>So, a D flip-flop requires only 20 transistors:</a:t>
            </a:r>
          </a:p>
        </p:txBody>
      </p:sp>
      <p:pic>
        <p:nvPicPr>
          <p:cNvPr id="6" name="Immagine 5" descr="Immagine che contiene diagramma, schizzo, linea, Piano&#10;&#10;Descrizione generata automaticamente">
            <a:extLst>
              <a:ext uri="{FF2B5EF4-FFF2-40B4-BE49-F238E27FC236}">
                <a16:creationId xmlns:a16="http://schemas.microsoft.com/office/drawing/2014/main" id="{792EF8B3-342D-1B04-8287-E124857847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5475" y="2622659"/>
            <a:ext cx="4045372" cy="1612682"/>
          </a:xfrm>
          <a:prstGeom prst="rect">
            <a:avLst/>
          </a:prstGeom>
        </p:spPr>
      </p:pic>
      <p:pic>
        <p:nvPicPr>
          <p:cNvPr id="10" name="Immagine 9" descr="Immagine che contiene diagramma, schizzo, linea, Piano&#10;&#10;Descrizione generata automaticamente">
            <a:extLst>
              <a:ext uri="{FF2B5EF4-FFF2-40B4-BE49-F238E27FC236}">
                <a16:creationId xmlns:a16="http://schemas.microsoft.com/office/drawing/2014/main" id="{A494382E-C88C-C06A-0D5F-11DCD18615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475" y="4759683"/>
            <a:ext cx="48768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3233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Problematic circuit: astable circuits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539303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Consider the three inverters tied in a loop</a:t>
            </a:r>
          </a:p>
          <a:p>
            <a:pPr lvl="1"/>
            <a:r>
              <a:rPr lang="en-GB" dirty="0"/>
              <a:t>each inverter has a delay of 1ns</a:t>
            </a:r>
          </a:p>
          <a:p>
            <a:r>
              <a:rPr lang="en-GB" dirty="0"/>
              <a:t>Suppose X is initially 0, then Y=1, Z=0, and, hence, X=1</a:t>
            </a:r>
          </a:p>
          <a:p>
            <a:pPr lvl="1"/>
            <a:r>
              <a:rPr lang="en-GB" dirty="0"/>
              <a:t>which is inconsistent with original assumption</a:t>
            </a:r>
          </a:p>
          <a:p>
            <a:pPr lvl="1"/>
            <a:r>
              <a:rPr lang="en-GB" dirty="0"/>
              <a:t>the circuit has </a:t>
            </a:r>
            <a:r>
              <a:rPr lang="en-GB" b="1" dirty="0"/>
              <a:t>no stable states </a:t>
            </a:r>
            <a:r>
              <a:rPr lang="en-GB" dirty="0"/>
              <a:t>and is said to be </a:t>
            </a:r>
            <a:r>
              <a:rPr lang="en-GB" b="1" dirty="0"/>
              <a:t>unstable</a:t>
            </a:r>
            <a:r>
              <a:rPr lang="en-GB" dirty="0"/>
              <a:t> or </a:t>
            </a:r>
            <a:r>
              <a:rPr lang="en-GB" b="1" dirty="0"/>
              <a:t>astable</a:t>
            </a:r>
          </a:p>
          <a:p>
            <a:r>
              <a:rPr lang="en-GB" dirty="0"/>
              <a:t>The period of the oscillator depends on the gate delay</a:t>
            </a:r>
          </a:p>
          <a:p>
            <a:pPr lvl="1"/>
            <a:r>
              <a:rPr lang="en-GB" dirty="0"/>
              <a:t>if X rises at t=0, Y falls at 1ns, </a:t>
            </a:r>
            <a:br>
              <a:rPr lang="en-GB" dirty="0"/>
            </a:br>
            <a:r>
              <a:rPr lang="en-GB" dirty="0"/>
              <a:t>Z rises at 2ns, and X falls at 3ns</a:t>
            </a:r>
          </a:p>
          <a:p>
            <a:pPr lvl="1"/>
            <a:r>
              <a:rPr lang="en-GB" dirty="0"/>
              <a:t>in turn, Y rises at 4ns, Z falls at 5ns, </a:t>
            </a:r>
            <a:br>
              <a:rPr lang="en-GB" dirty="0"/>
            </a:br>
            <a:r>
              <a:rPr lang="en-GB" dirty="0"/>
              <a:t>and X rises again at 6ns</a:t>
            </a:r>
          </a:p>
          <a:p>
            <a:pPr lvl="1"/>
            <a:r>
              <a:rPr lang="en-GB" dirty="0"/>
              <a:t>then, the pattern will repeat: each node </a:t>
            </a:r>
            <a:br>
              <a:rPr lang="en-GB" dirty="0"/>
            </a:br>
            <a:r>
              <a:rPr lang="en-GB" dirty="0"/>
              <a:t>oscillates  with a period of 6 ns </a:t>
            </a:r>
          </a:p>
          <a:p>
            <a:pPr lvl="1"/>
            <a:r>
              <a:rPr lang="en-GB" dirty="0"/>
              <a:t>this circuit is called a </a:t>
            </a:r>
            <a:r>
              <a:rPr lang="en-GB" b="1" dirty="0"/>
              <a:t>ring oscillator</a:t>
            </a:r>
          </a:p>
          <a:p>
            <a:r>
              <a:rPr lang="en-GB" dirty="0"/>
              <a:t>The gate delay depends on how the inverter was manufactured, the power supply voltage, and even the temperature</a:t>
            </a:r>
          </a:p>
          <a:p>
            <a:pPr lvl="1"/>
            <a:r>
              <a:rPr lang="en-GB" dirty="0"/>
              <a:t>the ring oscillator period is difficult to accurately predict</a:t>
            </a:r>
          </a:p>
        </p:txBody>
      </p:sp>
      <p:pic>
        <p:nvPicPr>
          <p:cNvPr id="4" name="Immagine 3" descr="Immagine che contiene schizzo, linea, disegno, diagramma&#10;&#10;Descrizione generata automaticamente">
            <a:extLst>
              <a:ext uri="{FF2B5EF4-FFF2-40B4-BE49-F238E27FC236}">
                <a16:creationId xmlns:a16="http://schemas.microsoft.com/office/drawing/2014/main" id="{2109F6F7-FE0C-7219-CF12-C91B5E782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8642" y="988995"/>
            <a:ext cx="2701345" cy="881341"/>
          </a:xfrm>
          <a:prstGeom prst="rect">
            <a:avLst/>
          </a:prstGeom>
        </p:spPr>
      </p:pic>
      <p:pic>
        <p:nvPicPr>
          <p:cNvPr id="9" name="Immagine 8" descr="Immagine che contiene diagramma, linea, Diagramma, Piano&#10;&#10;Descrizione generata automaticamente">
            <a:extLst>
              <a:ext uri="{FF2B5EF4-FFF2-40B4-BE49-F238E27FC236}">
                <a16:creationId xmlns:a16="http://schemas.microsoft.com/office/drawing/2014/main" id="{FD88515B-0310-2CED-A8E9-C57D594910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6800" y="3188512"/>
            <a:ext cx="4083540" cy="2238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9149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Problematic circuit: race condition (1)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13469" y="985192"/>
            <a:ext cx="8520600" cy="556551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Consider the following circuits, it seems a good implementation of a D latch (it use fewer gates):</a:t>
            </a:r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lvl="0"/>
            <a:endParaRPr lang="en-GB" dirty="0"/>
          </a:p>
          <a:p>
            <a:pPr marL="120650" lvl="0" indent="0">
              <a:buNone/>
            </a:pP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dirty="0"/>
              <a:t>The circuit has a </a:t>
            </a:r>
            <a:r>
              <a:rPr lang="en-GB" b="1" dirty="0"/>
              <a:t>race condition </a:t>
            </a:r>
            <a:r>
              <a:rPr lang="en-GB" dirty="0"/>
              <a:t>that causes it to fail when certain gates are slower than others:</a:t>
            </a:r>
          </a:p>
          <a:p>
            <a:pPr lvl="1"/>
            <a:r>
              <a:rPr lang="en-GB" dirty="0"/>
              <a:t>suppose that CLK=1, D=1, the latch is transparent and passes D and Q=1 </a:t>
            </a:r>
          </a:p>
          <a:p>
            <a:pPr lvl="1"/>
            <a:r>
              <a:rPr lang="en-GB" dirty="0"/>
              <a:t>now, CLK falls, the latch should remember its old value, keeping Q=1 </a:t>
            </a:r>
          </a:p>
          <a:p>
            <a:pPr lvl="1"/>
            <a:r>
              <a:rPr lang="en-GB" dirty="0"/>
              <a:t>however, we have the </a:t>
            </a:r>
            <a:r>
              <a:rPr lang="en-GB" b="1" dirty="0"/>
              <a:t>delay</a:t>
            </a:r>
            <a:r>
              <a:rPr lang="en-GB" dirty="0"/>
              <a:t> through the inverter</a:t>
            </a:r>
          </a:p>
          <a:p>
            <a:pPr lvl="2"/>
            <a:r>
              <a:rPr lang="en-GB" dirty="0"/>
              <a:t>N1 goes down</a:t>
            </a:r>
          </a:p>
          <a:p>
            <a:pPr lvl="2"/>
            <a:r>
              <a:rPr lang="en-GB" dirty="0"/>
              <a:t>N2 is not yet raised and Q becomes stuck at 0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DFF0B903-1C89-5991-1977-40C7B9DEB3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348" y="3327109"/>
            <a:ext cx="2485590" cy="598937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F170FECD-38B4-79A3-F5D2-6C4551EC4A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509" y="1727612"/>
            <a:ext cx="3222885" cy="2349393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350DA835-BD17-2A8C-6189-F173010AC8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3592" y="1396716"/>
            <a:ext cx="1510526" cy="2602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881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8F9D5FCB-2E43-7906-883B-F28CBFE8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11C4B08B-14EC-3C13-58E1-F01AC38B7F72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Problematic circuit: race condition (2)</a:t>
            </a:r>
            <a:endParaRPr dirty="0"/>
          </a:p>
        </p:txBody>
      </p:sp>
      <p:pic>
        <p:nvPicPr>
          <p:cNvPr id="6" name="Immagine 5" descr="Immagine che contiene schermata, diagramma, Rettangolo, Piano&#10;&#10;Il contenuto generato dall'IA potrebbe non essere corretto.">
            <a:extLst>
              <a:ext uri="{FF2B5EF4-FFF2-40B4-BE49-F238E27FC236}">
                <a16:creationId xmlns:a16="http://schemas.microsoft.com/office/drawing/2014/main" id="{5D47DF3F-5466-7063-3E6E-3998A925C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384300"/>
            <a:ext cx="8765151" cy="478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8861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Problematic circuit: asynchronous circuits 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48303" y="1331116"/>
            <a:ext cx="8520600" cy="510565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The previous examples contain </a:t>
            </a:r>
            <a:r>
              <a:rPr lang="en-GB" b="1" dirty="0"/>
              <a:t>loops</a:t>
            </a:r>
            <a:r>
              <a:rPr lang="en-GB" dirty="0"/>
              <a:t> called </a:t>
            </a:r>
            <a:r>
              <a:rPr lang="en-GB" b="1" dirty="0"/>
              <a:t>cyclic paths</a:t>
            </a:r>
          </a:p>
          <a:p>
            <a:pPr lvl="1"/>
            <a:r>
              <a:rPr lang="en-GB" dirty="0"/>
              <a:t>outputs are directly fed back to inputs </a:t>
            </a:r>
          </a:p>
          <a:p>
            <a:r>
              <a:rPr lang="en-GB" dirty="0"/>
              <a:t>The behaviour depends on which of the paths through logic gates is fastest </a:t>
            </a:r>
          </a:p>
          <a:p>
            <a:pPr lvl="1"/>
            <a:r>
              <a:rPr lang="en-GB" b="1" dirty="0"/>
              <a:t>asynchronous circuits</a:t>
            </a:r>
          </a:p>
          <a:p>
            <a:pPr lvl="1"/>
            <a:r>
              <a:rPr lang="en-GB" dirty="0"/>
              <a:t>a circuit works; an identical one built of gates with different delays may not work</a:t>
            </a:r>
          </a:p>
          <a:p>
            <a:pPr lvl="1"/>
            <a:r>
              <a:rPr lang="en-GB" dirty="0"/>
              <a:t>a circuit works only at certain temperatures at which the delays are just right</a:t>
            </a:r>
          </a:p>
          <a:p>
            <a:pPr lvl="1"/>
            <a:r>
              <a:rPr lang="en-GB" dirty="0"/>
              <a:t>these malfunctions are </a:t>
            </a:r>
            <a:r>
              <a:rPr lang="en-GB" b="1" dirty="0"/>
              <a:t>extremely difficult to track down</a:t>
            </a:r>
          </a:p>
          <a:p>
            <a:pPr lvl="1"/>
            <a:endParaRPr lang="en-GB" sz="400" b="1" dirty="0"/>
          </a:p>
          <a:p>
            <a:r>
              <a:rPr lang="en-GB" dirty="0"/>
              <a:t>We </a:t>
            </a:r>
            <a:r>
              <a:rPr lang="en-GB" b="1" dirty="0"/>
              <a:t>break the cyclic paths </a:t>
            </a:r>
            <a:r>
              <a:rPr lang="en-GB" dirty="0"/>
              <a:t>by </a:t>
            </a:r>
            <a:r>
              <a:rPr lang="en-GB" b="1" dirty="0"/>
              <a:t>inserting registers</a:t>
            </a:r>
          </a:p>
          <a:p>
            <a:pPr lvl="1"/>
            <a:r>
              <a:rPr lang="en-GB" dirty="0"/>
              <a:t>transforms the circuit into a </a:t>
            </a:r>
            <a:r>
              <a:rPr lang="en-GB" b="1" dirty="0"/>
              <a:t>collection of combinational logic and registers </a:t>
            </a:r>
          </a:p>
          <a:p>
            <a:pPr lvl="1"/>
            <a:r>
              <a:rPr lang="en-GB" dirty="0"/>
              <a:t>registers contain the </a:t>
            </a:r>
            <a:r>
              <a:rPr lang="en-GB" b="1" dirty="0"/>
              <a:t>state of the system</a:t>
            </a:r>
            <a:r>
              <a:rPr lang="en-GB" dirty="0"/>
              <a:t>, which </a:t>
            </a:r>
            <a:r>
              <a:rPr lang="en-GB" b="1" dirty="0"/>
              <a:t>changes only at the clock edge</a:t>
            </a:r>
          </a:p>
          <a:p>
            <a:pPr lvl="1"/>
            <a:r>
              <a:rPr lang="en-GB" dirty="0"/>
              <a:t>the state is </a:t>
            </a:r>
            <a:r>
              <a:rPr lang="en-GB" b="1" dirty="0"/>
              <a:t>synchronized</a:t>
            </a:r>
            <a:r>
              <a:rPr lang="en-GB" dirty="0"/>
              <a:t> to the clock </a:t>
            </a:r>
          </a:p>
          <a:p>
            <a:pPr lvl="1"/>
            <a:r>
              <a:rPr lang="en-GB" dirty="0"/>
              <a:t>if the clock is </a:t>
            </a:r>
            <a:r>
              <a:rPr lang="en-GB" b="1" dirty="0"/>
              <a:t>sufficiently slow </a:t>
            </a:r>
            <a:r>
              <a:rPr lang="en-GB" dirty="0"/>
              <a:t>all </a:t>
            </a:r>
            <a:r>
              <a:rPr lang="en-GB" b="1" dirty="0"/>
              <a:t>races are eliminated</a:t>
            </a:r>
          </a:p>
          <a:p>
            <a:pPr lvl="2"/>
            <a:r>
              <a:rPr lang="en-GB" dirty="0"/>
              <a:t>inputs to all registers settle before the next clock edge</a:t>
            </a:r>
          </a:p>
        </p:txBody>
      </p:sp>
    </p:spTree>
    <p:extLst>
      <p:ext uri="{BB962C8B-B14F-4D97-AF65-F5344CB8AC3E}">
        <p14:creationId xmlns:p14="http://schemas.microsoft.com/office/powerpoint/2010/main" val="37886387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Synchronous circuits (1)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99821" y="1127472"/>
            <a:ext cx="8520600" cy="53929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 </a:t>
            </a:r>
            <a:r>
              <a:rPr lang="en-GB" b="1" dirty="0"/>
              <a:t>synchronous sequential circuit</a:t>
            </a:r>
            <a:r>
              <a:rPr lang="en-GB" dirty="0"/>
              <a:t> has a </a:t>
            </a:r>
            <a:r>
              <a:rPr lang="en-GB" b="1" dirty="0"/>
              <a:t>clock input</a:t>
            </a:r>
            <a:r>
              <a:rPr lang="en-GB" dirty="0"/>
              <a:t>, whose rising edges indicate a sequence of times at which state transitions occur</a:t>
            </a:r>
          </a:p>
          <a:p>
            <a:pPr lvl="1"/>
            <a:r>
              <a:rPr lang="en-GB" b="1" dirty="0"/>
              <a:t>current state</a:t>
            </a:r>
            <a:r>
              <a:rPr lang="en-GB" dirty="0"/>
              <a:t> and </a:t>
            </a:r>
            <a:r>
              <a:rPr lang="en-GB" b="1" dirty="0"/>
              <a:t>next state</a:t>
            </a:r>
            <a:r>
              <a:rPr lang="en-GB" dirty="0"/>
              <a:t> distinguish the state of the system at the present from the state to which it will enter on the next clock edge </a:t>
            </a:r>
          </a:p>
          <a:p>
            <a:pPr lvl="1"/>
            <a:endParaRPr lang="en-GB" sz="200" dirty="0"/>
          </a:p>
          <a:p>
            <a:r>
              <a:rPr lang="en-GB" b="1" dirty="0"/>
              <a:t>Rules of synchronous sequential circuit composition </a:t>
            </a:r>
          </a:p>
          <a:p>
            <a:pPr lvl="1"/>
            <a:r>
              <a:rPr lang="en-GB" dirty="0"/>
              <a:t>a circuit is a synchronous if it consists of interconnected elements, such that</a:t>
            </a:r>
          </a:p>
          <a:p>
            <a:pPr lvl="2"/>
            <a:r>
              <a:rPr lang="en-GB" dirty="0"/>
              <a:t>every element is either a register or a combinational circuit</a:t>
            </a:r>
          </a:p>
          <a:p>
            <a:pPr lvl="2"/>
            <a:r>
              <a:rPr lang="en-GB" dirty="0"/>
              <a:t>at least one circuit element is a register</a:t>
            </a:r>
          </a:p>
          <a:p>
            <a:pPr lvl="2"/>
            <a:r>
              <a:rPr lang="en-GB" dirty="0"/>
              <a:t>all registers receive the same clock signal</a:t>
            </a:r>
          </a:p>
          <a:p>
            <a:pPr lvl="2"/>
            <a:r>
              <a:rPr lang="en-GB" dirty="0"/>
              <a:t>every cyclic path contains at least one register</a:t>
            </a:r>
          </a:p>
          <a:p>
            <a:pPr lvl="2"/>
            <a:endParaRPr lang="en-GB" sz="200" dirty="0"/>
          </a:p>
          <a:p>
            <a:pPr lvl="1"/>
            <a:endParaRPr lang="en-GB" sz="100" dirty="0"/>
          </a:p>
          <a:p>
            <a:r>
              <a:rPr lang="en-GB" dirty="0"/>
              <a:t>A flip-flop is the simplest synchronous sequential circuit</a:t>
            </a:r>
          </a:p>
          <a:p>
            <a:pPr lvl="1"/>
            <a:r>
              <a:rPr lang="en-GB" dirty="0"/>
              <a:t>it has one input, one clock, one output, and two states</a:t>
            </a:r>
          </a:p>
          <a:p>
            <a:pPr lvl="1"/>
            <a:r>
              <a:rPr lang="en-GB" dirty="0"/>
              <a:t>the next state is D and the output Q is the current state</a:t>
            </a:r>
          </a:p>
          <a:p>
            <a:endParaRPr lang="en-GB" dirty="0"/>
          </a:p>
          <a:p>
            <a:endParaRPr lang="en-GB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3B48892B-9403-08CF-1618-B8CD6758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27" y="4671189"/>
            <a:ext cx="2828073" cy="1592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592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Synchronous circuits (2)</a:t>
            </a:r>
            <a:endParaRPr dirty="0"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62750" y="1054365"/>
            <a:ext cx="8754604" cy="55890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/>
              <a:t>Which of the following circuits are synchronous sequential circuits?</a:t>
            </a:r>
          </a:p>
          <a:p>
            <a:pPr lvl="0"/>
            <a:endParaRPr lang="en-GB" dirty="0"/>
          </a:p>
          <a:p>
            <a:pPr marL="590550" lvl="1" indent="0">
              <a:buNone/>
            </a:pPr>
            <a:endParaRPr lang="en-GB"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D919F431-5766-B488-CAF2-097516BC5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0" y="1825915"/>
            <a:ext cx="8925756" cy="437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2529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Synchronous circuits (3)</a:t>
            </a:r>
            <a:endParaRPr dirty="0"/>
          </a:p>
        </p:txBody>
      </p:sp>
      <p:pic>
        <p:nvPicPr>
          <p:cNvPr id="2" name="Immagine 1">
            <a:extLst>
              <a:ext uri="{FF2B5EF4-FFF2-40B4-BE49-F238E27FC236}">
                <a16:creationId xmlns:a16="http://schemas.microsoft.com/office/drawing/2014/main" id="{29039813-6CAD-4457-5F56-2FADBD34EB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3" y="1684724"/>
            <a:ext cx="8948974" cy="3809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9116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>
          <a:extLst>
            <a:ext uri="{FF2B5EF4-FFF2-40B4-BE49-F238E27FC236}">
              <a16:creationId xmlns:a16="http://schemas.microsoft.com/office/drawing/2014/main" id="{0D843347-25AD-F264-192B-6B621CF38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>
            <a:extLst>
              <a:ext uri="{FF2B5EF4-FFF2-40B4-BE49-F238E27FC236}">
                <a16:creationId xmlns:a16="http://schemas.microsoft.com/office/drawing/2014/main" id="{DE633610-A008-930B-34F2-60E9914ECC6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GB" dirty="0"/>
              <a:t>Synchronous circuits VHDL </a:t>
            </a:r>
            <a:endParaRPr dirty="0"/>
          </a:p>
        </p:txBody>
      </p:sp>
      <p:pic>
        <p:nvPicPr>
          <p:cNvPr id="4" name="Immagine 3" descr="Immagine che contiene testo, Carattere, ricevuta, bianco&#10;&#10;Il contenuto generato dall'IA potrebbe non essere corretto.">
            <a:extLst>
              <a:ext uri="{FF2B5EF4-FFF2-40B4-BE49-F238E27FC236}">
                <a16:creationId xmlns:a16="http://schemas.microsoft.com/office/drawing/2014/main" id="{385A5031-B1BF-5BF5-07D5-F21E27787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900" y="1043733"/>
            <a:ext cx="4279900" cy="1090317"/>
          </a:xfrm>
          <a:prstGeom prst="rect">
            <a:avLst/>
          </a:prstGeom>
        </p:spPr>
      </p:pic>
      <p:pic>
        <p:nvPicPr>
          <p:cNvPr id="6" name="Immagine 5" descr="Immagine che contiene testo, schermata, Carattere, documento&#10;&#10;Il contenuto generato dall'IA potrebbe non essere corretto.">
            <a:extLst>
              <a:ext uri="{FF2B5EF4-FFF2-40B4-BE49-F238E27FC236}">
                <a16:creationId xmlns:a16="http://schemas.microsoft.com/office/drawing/2014/main" id="{AD9D663F-AB56-AC32-D1BB-F0F89ED4C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900" y="2181002"/>
            <a:ext cx="4524714" cy="4499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26235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 idx="4294967295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Synchronous vs Asynchronous Circuits</a:t>
            </a:r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199821" y="1212537"/>
            <a:ext cx="8520600" cy="522423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dirty="0"/>
              <a:t>Asynchronous design is </a:t>
            </a:r>
            <a:r>
              <a:rPr lang="en-GB" b="1" dirty="0"/>
              <a:t>more general </a:t>
            </a:r>
            <a:r>
              <a:rPr lang="en-GB" dirty="0"/>
              <a:t>than synchronous design</a:t>
            </a:r>
          </a:p>
          <a:p>
            <a:pPr lvl="1"/>
            <a:r>
              <a:rPr lang="en-GB" dirty="0"/>
              <a:t>the timing of the system is not limited by clocked registers</a:t>
            </a:r>
          </a:p>
          <a:p>
            <a:pPr lvl="1"/>
            <a:r>
              <a:rPr lang="en-GB" dirty="0"/>
              <a:t>(just as analog circuits are more </a:t>
            </a:r>
            <a:r>
              <a:rPr lang="en-GB" dirty="0" err="1"/>
              <a:t>genthaeral</a:t>
            </a:r>
            <a:r>
              <a:rPr lang="en-GB" dirty="0"/>
              <a:t> n digital circuits) </a:t>
            </a:r>
          </a:p>
          <a:p>
            <a:endParaRPr lang="en-GB" dirty="0"/>
          </a:p>
          <a:p>
            <a:r>
              <a:rPr lang="en-GB" dirty="0"/>
              <a:t>Synchronous circuits are </a:t>
            </a:r>
            <a:r>
              <a:rPr lang="en-GB" b="1" dirty="0"/>
              <a:t>easier to design </a:t>
            </a:r>
            <a:r>
              <a:rPr lang="en-GB" dirty="0"/>
              <a:t>than asynchronous circuits</a:t>
            </a:r>
          </a:p>
          <a:p>
            <a:pPr lvl="1"/>
            <a:r>
              <a:rPr lang="en-GB" dirty="0"/>
              <a:t>(just as digital are easier than analog circuits)</a:t>
            </a:r>
          </a:p>
          <a:p>
            <a:pPr lvl="1"/>
            <a:endParaRPr lang="en-GB" dirty="0"/>
          </a:p>
          <a:p>
            <a:pPr lvl="0"/>
            <a:r>
              <a:rPr lang="en-GB" dirty="0"/>
              <a:t>Despite decades of research on asynchronous circuits, virtually all digital systems are essentially synchronous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Asynchronous circuits are </a:t>
            </a:r>
            <a:r>
              <a:rPr lang="en-GB" b="1" dirty="0"/>
              <a:t>occasionally necessary</a:t>
            </a:r>
            <a:r>
              <a:rPr lang="en-GB" dirty="0"/>
              <a:t> when communicating between </a:t>
            </a:r>
            <a:r>
              <a:rPr lang="en-GB" b="1" dirty="0"/>
              <a:t>systems with different clocks</a:t>
            </a:r>
            <a:r>
              <a:rPr lang="en-GB" dirty="0"/>
              <a:t> or when </a:t>
            </a:r>
            <a:r>
              <a:rPr lang="en-GB" b="1" dirty="0"/>
              <a:t>receiving inputs at arbitrary times</a:t>
            </a:r>
          </a:p>
          <a:p>
            <a:pPr lvl="1"/>
            <a:r>
              <a:rPr lang="en-GB" dirty="0"/>
              <a:t>(just as analog circuits are necessary when communicating with the real world of continuous voltages)</a:t>
            </a:r>
          </a:p>
        </p:txBody>
      </p:sp>
    </p:spTree>
    <p:extLst>
      <p:ext uri="{BB962C8B-B14F-4D97-AF65-F5344CB8AC3E}">
        <p14:creationId xmlns:p14="http://schemas.microsoft.com/office/powerpoint/2010/main" val="988814933"/>
      </p:ext>
    </p:extLst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2" ma:contentTypeDescription="Creare un nuovo documento." ma:contentTypeScope="" ma:versionID="4c8b1e8002f5a6c880c83187af115cef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618b708abf3b656f834d84e193700042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B260D2-A347-43A0-A107-8076775FB28B}">
  <ds:schemaRefs>
    <ds:schemaRef ds:uri="http://schemas.microsoft.com/office/2006/documentManagement/types"/>
    <ds:schemaRef ds:uri="3bd0d43f-5e5b-43cd-b6fc-691bd77672c6"/>
    <ds:schemaRef ds:uri="http://www.w3.org/XML/1998/namespace"/>
    <ds:schemaRef ds:uri="http://schemas.microsoft.com/office/2006/metadata/properties"/>
    <ds:schemaRef ds:uri="e9b5433c-2372-4cb7-8bab-09518096b29b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9735AF8-143F-4C0B-B78F-78AAB794A7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956D2E6-7C07-4E1B-93C4-F2CB12AD43E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10101</TotalTime>
  <Words>2505</Words>
  <Application>Microsoft Macintosh PowerPoint</Application>
  <PresentationFormat>Presentazione su schermo (4:3)</PresentationFormat>
  <Paragraphs>329</Paragraphs>
  <Slides>33</Slides>
  <Notes>32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33</vt:i4>
      </vt:variant>
    </vt:vector>
  </HeadingPairs>
  <TitlesOfParts>
    <vt:vector size="37" baseType="lpstr">
      <vt:lpstr>Arial</vt:lpstr>
      <vt:lpstr>Economica</vt:lpstr>
      <vt:lpstr>Open Sans</vt:lpstr>
      <vt:lpstr>Luxe</vt:lpstr>
      <vt:lpstr>Sequential Circuits</vt:lpstr>
      <vt:lpstr>Index</vt:lpstr>
      <vt:lpstr>Sequential Logic</vt:lpstr>
      <vt:lpstr>Bistable element (1)</vt:lpstr>
      <vt:lpstr>Bistable element (2)</vt:lpstr>
      <vt:lpstr>SR Latch (1)</vt:lpstr>
      <vt:lpstr>SR Latch (2)</vt:lpstr>
      <vt:lpstr>SR Latch (3)</vt:lpstr>
      <vt:lpstr>SR Latch VHDL</vt:lpstr>
      <vt:lpstr>D Latch</vt:lpstr>
      <vt:lpstr>D Latch VHDL</vt:lpstr>
      <vt:lpstr>Clock</vt:lpstr>
      <vt:lpstr>D Flip-Flop</vt:lpstr>
      <vt:lpstr>D Flip-Flop VHDL</vt:lpstr>
      <vt:lpstr>Flip-Flop and Latch comparison</vt:lpstr>
      <vt:lpstr>Register</vt:lpstr>
      <vt:lpstr>Register VHDL</vt:lpstr>
      <vt:lpstr>Enabled Flip-Flop</vt:lpstr>
      <vt:lpstr>Enabled Flip-Flop VHDL</vt:lpstr>
      <vt:lpstr>Resettable Flip-Flop</vt:lpstr>
      <vt:lpstr>Resettable Flip-Flop</vt:lpstr>
      <vt:lpstr>Transistor-Level Design (1)</vt:lpstr>
      <vt:lpstr>Transistor-Level Design (2)</vt:lpstr>
      <vt:lpstr>Transistor-Level Design (3)</vt:lpstr>
      <vt:lpstr>Problematic circuit: astable circuits</vt:lpstr>
      <vt:lpstr>Problematic circuit: race condition (1)</vt:lpstr>
      <vt:lpstr>Problematic circuit: race condition (2)</vt:lpstr>
      <vt:lpstr>Problematic circuit: asynchronous circuits </vt:lpstr>
      <vt:lpstr>Synchronous circuits (1)</vt:lpstr>
      <vt:lpstr>Synchronous circuits (2)</vt:lpstr>
      <vt:lpstr>Synchronous circuits (3)</vt:lpstr>
      <vt:lpstr>Synchronous circuits VHDL </vt:lpstr>
      <vt:lpstr>Synchronous vs Asynchronous Circuits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Digital Abstraction</dc:title>
  <dc:subject/>
  <dc:creator/>
  <cp:keywords/>
  <dc:description/>
  <cp:lastModifiedBy>Riccardo Berta</cp:lastModifiedBy>
  <cp:revision>23</cp:revision>
  <dcterms:modified xsi:type="dcterms:W3CDTF">2025-11-21T11:02:00Z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